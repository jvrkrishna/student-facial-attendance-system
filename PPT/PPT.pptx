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4404"/>
    <a:srgbClr val="CF2D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B57F0-2FC6-8D9A-E327-ED4B017C6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6B1E92-ADF9-40E8-C278-5637C4D23B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E2F85-27E6-2E92-79CB-C4216FF72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5AA2-D38B-4B64-A809-51BDEF1B2F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C75B4-E84E-6378-B3F4-78D548ADD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A8465-1F65-6CA4-DAD7-3479AF4E1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C8C2-A610-4DFE-B1E1-469098964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39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4FDAB-E1F7-683C-6BD4-A68BFBDB3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E329C-3539-6C02-99AA-9464999A5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430F3-BC89-55E4-3A43-73D2A3F36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5AA2-D38B-4B64-A809-51BDEF1B2F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3DED9-2327-0771-81E7-F2A48580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DA63C-D2F7-E852-CF22-5E7C8B026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C8C2-A610-4DFE-B1E1-469098964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017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7CE31-DD1F-1BCB-57D0-41BC71BF0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32E7-247A-781A-6EF4-DF019EE9A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990A8-AC1A-6BE5-38EA-3F92E5624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5AA2-D38B-4B64-A809-51BDEF1B2F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4F53A-AA34-EBA5-3202-5A637E8ED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D0E34-526F-3863-8334-6EE33E395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C8C2-A610-4DFE-B1E1-469098964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132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3A75E-22A0-712D-46D8-6B85CAA45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552B3-5ED9-3778-CB95-CCD236BD7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ED627D-C462-B3D9-D318-8DF82FC77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F208A-1A84-B4D1-FD3C-5904A874B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5AA2-D38B-4B64-A809-51BDEF1B2F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9B96A-CB59-0729-F43C-88C6BBBD8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C0276-9B71-8C6A-D300-DDA807505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C8C2-A610-4DFE-B1E1-469098964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834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1A88C-4622-505B-9327-D6F4B4AB3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6AA5A-F164-988E-AC2A-2ABC244C0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31805F-B521-773F-F8CA-0CD3BCD33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9952A3-3E33-7434-75D5-D179E8ED15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C8440C-D07D-C6D2-5664-89309103FC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1D5C17-F621-1DB3-F20E-B360555A4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5AA2-D38B-4B64-A809-51BDEF1B2F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922F26-FA1C-9E74-F49A-625D25AC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9EBBAC-FD48-728B-220C-6257C835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C8C2-A610-4DFE-B1E1-469098964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186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25321-B6E9-BDE8-425C-3E8413798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6FC8EB-1DFF-59A4-FC06-09E407B93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5AA2-D38B-4B64-A809-51BDEF1B2F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71CD69-2E9E-7906-47BB-6A137F975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BFC79-831F-93F1-5DE8-C5E4FF7D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C8C2-A610-4DFE-B1E1-469098964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442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A9FBD5-62AD-40EC-3276-83B4C1F0D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5AA2-D38B-4B64-A809-51BDEF1B2F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CCFE2C-5B55-F517-7C60-A6FF55629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5AB70-4C4F-3566-F20F-3B4BD43C8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C8C2-A610-4DFE-B1E1-469098964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12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58BC9-E212-9034-1D51-EB4FB966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E824B-B066-35D0-405E-9C09F8DB5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AAC17-FB6E-F909-610E-F5EC6F7CB8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83DBB-D0E9-3766-A588-8E199D8FB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5AA2-D38B-4B64-A809-51BDEF1B2F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50400-2124-B4E1-E89A-5809FB86D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8D0A7-9B20-BA9B-08F6-513B4EF12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C8C2-A610-4DFE-B1E1-469098964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56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2E92B-22AC-5861-2B27-034774749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B0BFE8-C63C-A55B-124F-DC50CEAA0E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43FE38-5BF4-7C03-BE3E-13BF7278A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4C770A-00C3-AF17-8453-CC55EF933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5AA2-D38B-4B64-A809-51BDEF1B2F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A721A-527C-8A41-D323-F086A934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53507-E9B1-42EC-8481-F0E81EAC6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C8C2-A610-4DFE-B1E1-469098964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082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91E35-9D5B-781C-EC3A-5935F2330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9061DB-448B-2A2C-A67F-6EF756ECD6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B6A1C-DEDB-C4C6-20FF-9534339B9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5AA2-D38B-4B64-A809-51BDEF1B2F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66B2A-3CAC-61BC-9114-72938EB67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6480E-16A3-F974-162C-B0264C9F8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C8C2-A610-4DFE-B1E1-469098964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2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EF10A0-AB77-59A5-76A0-B865BE71DE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E84A88-93F3-CFE3-8415-F995372B7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0CE6D-A131-3212-8746-E0C56DDE7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5AA2-D38B-4B64-A809-51BDEF1B2F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D871D-9950-D25C-60E1-8F78D66FC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26AF9-07B1-9E15-40D8-8BDDCE131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C8C2-A610-4DFE-B1E1-469098964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83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FA201-1C46-B40D-959C-DC692E4F4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AED9C-A6A4-0189-7785-E5EDF8D47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42EEE-A586-3C98-4839-BE883DA32C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85AA2-D38B-4B64-A809-51BDEF1B2F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0AA74-6C06-5940-EDA2-08491BE30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AEA65-EFB8-71F9-9F6C-9E91B18C3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5C8C2-A610-4DFE-B1E1-469098964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551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38360" y="-320040"/>
            <a:ext cx="2834640" cy="2834640"/>
          </a:xfrm>
          <a:prstGeom prst="ellipse">
            <a:avLst/>
          </a:prstGeom>
          <a:solidFill>
            <a:srgbClr val="E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78440" y="320040"/>
            <a:ext cx="1508760" cy="1508760"/>
          </a:xfrm>
          <a:prstGeom prst="ellipse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732520" y="2331720"/>
            <a:ext cx="224028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32520" y="2331720"/>
            <a:ext cx="2240280" cy="438912"/>
          </a:xfrm>
          <a:prstGeom prst="rect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070848" y="2148840"/>
            <a:ext cx="164592" cy="438912"/>
          </a:xfrm>
          <a:prstGeom prst="roundRect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97312" y="2148840"/>
            <a:ext cx="164592" cy="438912"/>
          </a:xfrm>
          <a:prstGeom prst="roundRect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72600" y="3063240"/>
            <a:ext cx="960120" cy="685800"/>
          </a:xfrm>
          <a:prstGeom prst="roundRect">
            <a:avLst/>
          </a:prstGeom>
          <a:solidFill>
            <a:srgbClr val="E7F8F4"/>
          </a:solidFill>
          <a:ln>
            <a:solidFill>
              <a:srgbClr val="38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37192" y="3136392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6877D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143000"/>
            <a:ext cx="7498079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3500" b="1">
                <a:solidFill>
                  <a:srgbClr val="193454"/>
                </a:solidFill>
                <a:latin typeface="Aptos Display"/>
              </a:defRPr>
            </a:pPr>
            <a:r>
              <a:t>STUDENT ATTENDANCE</a:t>
            </a:r>
          </a:p>
          <a:p>
            <a:pPr>
              <a:defRPr sz="3500" b="1">
                <a:solidFill>
                  <a:srgbClr val="2B77A7"/>
                </a:solidFill>
                <a:latin typeface="Aptos Display"/>
              </a:defRPr>
            </a:pPr>
            <a:r>
              <a:t>MANAGEMENT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37560"/>
            <a:ext cx="6858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4C5B6C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251960"/>
            <a:ext cx="704088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4480560"/>
            <a:ext cx="6492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3454"/>
                </a:solidFill>
                <a:latin typeface="Aptos"/>
              </a:defRPr>
            </a:pPr>
            <a:r>
              <a:t>A VINESH   |   Roll No. 123456</a:t>
            </a:r>
          </a:p>
          <a:p>
            <a:pPr>
              <a:defRPr sz="1300">
                <a:solidFill>
                  <a:srgbClr val="586778"/>
                </a:solidFill>
                <a:latin typeface="Aptos"/>
              </a:defRPr>
            </a:pPr>
            <a:r>
              <a:t>ADITYA DIPLOMA COLLEGE  •  CSE  •  Academic Year 2026–2027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617720"/>
            <a:ext cx="3108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9D97"/>
                </a:solidFill>
                <a:latin typeface="Aptos"/>
              </a:defRPr>
            </a:pPr>
            <a:r>
              <a:t>Guide / Supervisor</a:t>
            </a:r>
          </a:p>
          <a:p>
            <a:pPr>
              <a:defRPr sz="1300" b="1">
                <a:solidFill>
                  <a:srgbClr val="193454"/>
                </a:solidFill>
                <a:latin typeface="Aptos"/>
              </a:defRPr>
            </a:pPr>
            <a:r>
              <a:t>J V RAMA KRISHNA RAO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87787"/>
                </a:solidFill>
                <a:latin typeface="Aptos"/>
              </a:defRPr>
            </a:pPr>
            <a:r>
              <a:t>ADIKAVI NANNAYA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9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454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74452"/>
                </a:solidFill>
                <a:latin typeface="Aptos"/>
              </a:defRPr>
            </a:pPr>
            <a:r>
              <a:t>A simple web-based system for secure and organized student attendance.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2240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2057400"/>
            <a:ext cx="2240280" cy="109728"/>
          </a:xfrm>
          <a:prstGeom prst="rect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2331720"/>
            <a:ext cx="1920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454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788920"/>
            <a:ext cx="187451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452"/>
                </a:solidFill>
                <a:latin typeface="Aptos"/>
              </a:defRPr>
            </a:pPr>
            <a:r>
              <a:t>Registers • Logs in • Submits attendance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057400"/>
            <a:ext cx="2240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66160" y="2057400"/>
            <a:ext cx="2240280" cy="109728"/>
          </a:xfrm>
          <a:prstGeom prst="rect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30752" y="2331720"/>
            <a:ext cx="1920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454"/>
                </a:solidFill>
                <a:latin typeface="Aptos"/>
              </a:defRPr>
            </a:pPr>
            <a:r>
              <a:t>FACE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2788920"/>
            <a:ext cx="187451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452"/>
                </a:solidFill>
                <a:latin typeface="Aptos"/>
              </a:defRPr>
            </a:pPr>
            <a:r>
              <a:t>Camera + OpenCV + DeepFace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057400"/>
            <a:ext cx="2240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46520" y="2057400"/>
            <a:ext cx="2240280" cy="109728"/>
          </a:xfrm>
          <a:prstGeom prst="rect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11112" y="2331720"/>
            <a:ext cx="1920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454"/>
                </a:solidFill>
                <a:latin typeface="Aptos"/>
              </a:defRPr>
            </a:pPr>
            <a:r>
              <a:t>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788920"/>
            <a:ext cx="187451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452"/>
                </a:solidFill>
                <a:latin typeface="Aptos"/>
              </a:defRPr>
            </a:pPr>
            <a:r>
              <a:t>Date recorded • Status = PENDING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2057400"/>
            <a:ext cx="2240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26880" y="2057400"/>
            <a:ext cx="2240280" cy="109728"/>
          </a:xfrm>
          <a:prstGeom prst="rect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91472" y="2331720"/>
            <a:ext cx="1920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454"/>
                </a:solidFill>
                <a:latin typeface="Aptos"/>
              </a:defRPr>
            </a:pPr>
            <a:r>
              <a:t>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2788920"/>
            <a:ext cx="187451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452"/>
                </a:solidFill>
                <a:latin typeface="Aptos"/>
              </a:defRPr>
            </a:pPr>
            <a:r>
              <a:t>Admin / Superadmin reviews record</a:t>
            </a:r>
          </a:p>
        </p:txBody>
      </p:sp>
      <p:sp>
        <p:nvSpPr>
          <p:cNvPr id="21" name="Chevron 20"/>
          <p:cNvSpPr/>
          <p:nvPr/>
        </p:nvSpPr>
        <p:spPr>
          <a:xfrm>
            <a:off x="3063240" y="2651760"/>
            <a:ext cx="347472" cy="384048"/>
          </a:xfrm>
          <a:prstGeom prst="chevron">
            <a:avLst/>
          </a:prstGeom>
          <a:solidFill>
            <a:srgbClr val="BE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hevron 21"/>
          <p:cNvSpPr/>
          <p:nvPr/>
        </p:nvSpPr>
        <p:spPr>
          <a:xfrm>
            <a:off x="5943600" y="2651760"/>
            <a:ext cx="347472" cy="384048"/>
          </a:xfrm>
          <a:prstGeom prst="chevron">
            <a:avLst/>
          </a:prstGeom>
          <a:solidFill>
            <a:srgbClr val="BE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hevron 22"/>
          <p:cNvSpPr/>
          <p:nvPr/>
        </p:nvSpPr>
        <p:spPr>
          <a:xfrm>
            <a:off x="8823960" y="2651760"/>
            <a:ext cx="347472" cy="384048"/>
          </a:xfrm>
          <a:prstGeom prst="chevron">
            <a:avLst/>
          </a:prstGeom>
          <a:solidFill>
            <a:srgbClr val="BE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85800" y="4251960"/>
            <a:ext cx="10881360" cy="1417320"/>
          </a:xfrm>
          <a:prstGeom prst="roundRect">
            <a:avLst/>
          </a:prstGeom>
          <a:solidFill>
            <a:srgbClr val="E7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4805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77A7"/>
                </a:solidFill>
                <a:latin typeface="Aptos"/>
              </a:defRPr>
            </a:pPr>
            <a:r>
              <a:t>KEY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462272"/>
            <a:ext cx="187451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74452"/>
                </a:solidFill>
                <a:latin typeface="Aptos"/>
              </a:defRPr>
            </a:pPr>
            <a:r>
              <a:t>✓  Role-based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4462272"/>
            <a:ext cx="187451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74452"/>
                </a:solidFill>
                <a:latin typeface="Aptos"/>
              </a:defRPr>
            </a:pPr>
            <a:r>
              <a:t>✓  One registered face image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462272"/>
            <a:ext cx="187451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74452"/>
                </a:solidFill>
                <a:latin typeface="Aptos"/>
              </a:defRPr>
            </a:pPr>
            <a:r>
              <a:t>✓  Attendance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4462272"/>
            <a:ext cx="187451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74452"/>
                </a:solidFill>
                <a:latin typeface="Aptos"/>
              </a:defRPr>
            </a:pPr>
            <a:r>
              <a:t>✓  Email notification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62636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97888"/>
                </a:solidFill>
                <a:latin typeface="Aptos"/>
              </a:defRPr>
            </a:pPr>
            <a:r>
              <a:t>Student Attendance Management System  • 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9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454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C7A"/>
                </a:solidFill>
                <a:latin typeface="Aptos"/>
              </a:defRPr>
            </a:pPr>
            <a:r>
              <a:t>Challenges in maintaining accurate, efficient and manageable attendance records.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28346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2834640" cy="438912"/>
          </a:xfrm>
          <a:prstGeom prst="rect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43000" y="2743200"/>
            <a:ext cx="219456" cy="219456"/>
          </a:xfrm>
          <a:prstGeom prst="roundRect">
            <a:avLst/>
          </a:prstGeom>
          <a:solidFill>
            <a:srgbClr val="E7F8F4"/>
          </a:solidFill>
          <a:ln>
            <a:solidFill>
              <a:srgbClr val="38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554480" y="2807208"/>
            <a:ext cx="1508760" cy="82296"/>
          </a:xfrm>
          <a:prstGeom prst="rect">
            <a:avLst/>
          </a:prstGeom>
          <a:solidFill>
            <a:srgbClr val="BEC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43000" y="3218688"/>
            <a:ext cx="219456" cy="219456"/>
          </a:xfrm>
          <a:prstGeom prst="roundRect">
            <a:avLst/>
          </a:prstGeom>
          <a:solidFill>
            <a:srgbClr val="E7F8F4"/>
          </a:solidFill>
          <a:ln>
            <a:solidFill>
              <a:srgbClr val="38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554480" y="3282696"/>
            <a:ext cx="1508760" cy="82296"/>
          </a:xfrm>
          <a:prstGeom prst="rect">
            <a:avLst/>
          </a:prstGeom>
          <a:solidFill>
            <a:srgbClr val="BEC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43000" y="3694176"/>
            <a:ext cx="219456" cy="219456"/>
          </a:xfrm>
          <a:prstGeom prst="roundRect">
            <a:avLst/>
          </a:prstGeom>
          <a:solidFill>
            <a:srgbClr val="E7F8F4"/>
          </a:solidFill>
          <a:ln>
            <a:solidFill>
              <a:srgbClr val="38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554480" y="3758184"/>
            <a:ext cx="1508760" cy="82296"/>
          </a:xfrm>
          <a:prstGeom prst="rect">
            <a:avLst/>
          </a:prstGeom>
          <a:solidFill>
            <a:srgbClr val="BEC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43000" y="4169664"/>
            <a:ext cx="219456" cy="219456"/>
          </a:xfrm>
          <a:prstGeom prst="roundRect">
            <a:avLst/>
          </a:prstGeom>
          <a:solidFill>
            <a:srgbClr val="E7F8F4"/>
          </a:solidFill>
          <a:ln>
            <a:solidFill>
              <a:srgbClr val="38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554480" y="4233672"/>
            <a:ext cx="1508760" cy="82296"/>
          </a:xfrm>
          <a:prstGeom prst="rect">
            <a:avLst/>
          </a:prstGeom>
          <a:solidFill>
            <a:srgbClr val="BEC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4526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3454"/>
                </a:solidFill>
                <a:latin typeface="Aptos"/>
              </a:defRPr>
            </a:pPr>
            <a:r>
              <a:t>MANUAL 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874519"/>
            <a:ext cx="71780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279392" y="2048255"/>
            <a:ext cx="475488" cy="475488"/>
          </a:xfrm>
          <a:prstGeom prst="ellipse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52544" y="2130552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1993391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3454"/>
                </a:solidFill>
                <a:latin typeface="Aptos"/>
              </a:defRPr>
            </a:pPr>
            <a:r>
              <a:t>Manual effort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5414" y="1984248"/>
            <a:ext cx="3977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452"/>
                </a:solidFill>
                <a:latin typeface="Aptos"/>
              </a:defRPr>
            </a:pPr>
            <a:r>
              <a:rPr dirty="0"/>
              <a:t>Paper or manual records require repeated data entry and checking.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2834639"/>
            <a:ext cx="71780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279392" y="3008375"/>
            <a:ext cx="475488" cy="475488"/>
          </a:xfrm>
          <a:prstGeom prst="ellipse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52544" y="3090672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953511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3454"/>
                </a:solidFill>
                <a:latin typeface="Aptos"/>
              </a:defRPr>
            </a:pPr>
            <a:r>
              <a:t>Identity 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0730" y="2944368"/>
            <a:ext cx="4208203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452"/>
                </a:solidFill>
                <a:latin typeface="Aptos"/>
              </a:defRPr>
            </a:pPr>
            <a:r>
              <a:rPr dirty="0"/>
              <a:t>A reliable way to confirm the student's identity is needed before</a:t>
            </a:r>
            <a:endParaRPr lang="en-US" dirty="0"/>
          </a:p>
          <a:p>
            <a:pPr>
              <a:defRPr sz="1150">
                <a:solidFill>
                  <a:srgbClr val="374452"/>
                </a:solidFill>
                <a:latin typeface="Aptos"/>
              </a:defRPr>
            </a:pPr>
            <a:r>
              <a:rPr dirty="0"/>
              <a:t> attendance submission.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69080" y="3794759"/>
            <a:ext cx="71780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279392" y="3968496"/>
            <a:ext cx="475488" cy="475488"/>
          </a:xfrm>
          <a:prstGeom prst="ellipse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52544" y="4050791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3913631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3454"/>
                </a:solidFill>
                <a:latin typeface="Aptos"/>
              </a:defRPr>
            </a:pPr>
            <a:r>
              <a:t>Approval 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7186" y="3904487"/>
            <a:ext cx="3977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452"/>
                </a:solidFill>
                <a:latin typeface="Aptos"/>
              </a:defRPr>
            </a:pPr>
            <a:r>
              <a:rPr dirty="0"/>
              <a:t>Attendance records need a controlled approval or rejection process.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69080" y="4754879"/>
            <a:ext cx="71780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279392" y="4928616"/>
            <a:ext cx="475488" cy="475488"/>
          </a:xfrm>
          <a:prstGeom prst="ellipse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52544" y="5010912"/>
            <a:ext cx="329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4873751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3454"/>
                </a:solidFill>
                <a:latin typeface="Aptos"/>
              </a:defRPr>
            </a:pPr>
            <a:r>
              <a:t>Student 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3646" y="4864607"/>
            <a:ext cx="4347665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374452"/>
                </a:solidFill>
                <a:latin typeface="Aptos"/>
              </a:defRPr>
            </a:pPr>
            <a:r>
              <a:rPr dirty="0"/>
              <a:t>Students need convenient access to their attendance history and </a:t>
            </a:r>
            <a:endParaRPr lang="en-US" dirty="0"/>
          </a:p>
          <a:p>
            <a:pPr>
              <a:defRPr sz="1150">
                <a:solidFill>
                  <a:srgbClr val="374452"/>
                </a:solidFill>
                <a:latin typeface="Aptos"/>
              </a:defRPr>
            </a:pPr>
            <a:r>
              <a:rPr dirty="0"/>
              <a:t>profile.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6291072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F6C7A"/>
                </a:solidFill>
                <a:latin typeface="Aptos"/>
              </a:defRPr>
            </a:pPr>
            <a:r>
              <a:t>Student Attendance Management System  •  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9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454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6128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C7A"/>
                </a:solidFill>
                <a:latin typeface="Aptos"/>
              </a:defRPr>
            </a:pPr>
            <a:r>
              <a:t>The system is designed around a secure and simple attendance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6968" y="2103120"/>
            <a:ext cx="475488" cy="475488"/>
          </a:xfrm>
          <a:prstGeom prst="ellipse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2176272"/>
            <a:ext cx="4754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057400"/>
            <a:ext cx="1965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3454"/>
                </a:solidFill>
                <a:latin typeface="Aptos"/>
              </a:defRPr>
            </a:pPr>
            <a:r>
              <a:t>Student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24327"/>
            <a:ext cx="2672526" cy="4370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374452"/>
                </a:solidFill>
                <a:latin typeface="Aptos"/>
              </a:defRPr>
            </a:pPr>
            <a:r>
              <a:rPr dirty="0"/>
              <a:t>Allow students to create an account and</a:t>
            </a:r>
            <a:endParaRPr lang="en-US" dirty="0"/>
          </a:p>
          <a:p>
            <a:pPr>
              <a:defRPr sz="1120">
                <a:solidFill>
                  <a:srgbClr val="374452"/>
                </a:solidFill>
                <a:latin typeface="Aptos"/>
              </a:defRPr>
            </a:pPr>
            <a:r>
              <a:rPr dirty="0"/>
              <a:t> register one face image.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874519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270248" y="2103120"/>
            <a:ext cx="475488" cy="475488"/>
          </a:xfrm>
          <a:prstGeom prst="ellipse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70248" y="2176272"/>
            <a:ext cx="4754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2057400"/>
            <a:ext cx="1965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3454"/>
                </a:solidFill>
                <a:latin typeface="Aptos"/>
              </a:defRPr>
            </a:pPr>
            <a:r>
              <a:t>Secure 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624327"/>
            <a:ext cx="2820003" cy="4370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374452"/>
                </a:solidFill>
                <a:latin typeface="Aptos"/>
              </a:defRPr>
            </a:pPr>
            <a:r>
              <a:rPr dirty="0"/>
              <a:t>Provide authenticated access according to</a:t>
            </a:r>
            <a:endParaRPr lang="en-US" dirty="0"/>
          </a:p>
          <a:p>
            <a:pPr>
              <a:defRPr sz="1120">
                <a:solidFill>
                  <a:srgbClr val="374452"/>
                </a:solidFill>
                <a:latin typeface="Aptos"/>
              </a:defRPr>
            </a:pPr>
            <a:r>
              <a:rPr dirty="0"/>
              <a:t> the user's role.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874519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653528" y="2103120"/>
            <a:ext cx="475488" cy="475488"/>
          </a:xfrm>
          <a:prstGeom prst="ellipse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53528" y="2176272"/>
            <a:ext cx="4754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2057400"/>
            <a:ext cx="1965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3454"/>
                </a:solidFill>
                <a:latin typeface="Aptos"/>
              </a:defRPr>
            </a:pPr>
            <a:r>
              <a:t>Face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624327"/>
            <a:ext cx="2868093" cy="4370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374452"/>
                </a:solidFill>
                <a:latin typeface="Aptos"/>
              </a:defRPr>
            </a:pPr>
            <a:r>
              <a:rPr dirty="0"/>
              <a:t>Verify the student's face before attendance </a:t>
            </a:r>
            <a:endParaRPr lang="en-US" dirty="0"/>
          </a:p>
          <a:p>
            <a:pPr>
              <a:defRPr sz="1120">
                <a:solidFill>
                  <a:srgbClr val="374452"/>
                </a:solidFill>
                <a:latin typeface="Aptos"/>
              </a:defRPr>
            </a:pPr>
            <a:r>
              <a:rPr dirty="0"/>
              <a:t>is submitted.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94760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86968" y="4023360"/>
            <a:ext cx="475488" cy="475488"/>
          </a:xfrm>
          <a:prstGeom prst="ellipse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4096512"/>
            <a:ext cx="4754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0472" y="3977640"/>
            <a:ext cx="1965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3454"/>
                </a:solidFill>
                <a:latin typeface="Aptos"/>
              </a:defRPr>
            </a:pPr>
            <a:r>
              <a:t>Attendance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544568"/>
            <a:ext cx="2829621" cy="4370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374452"/>
                </a:solidFill>
                <a:latin typeface="Aptos"/>
              </a:defRPr>
            </a:pPr>
            <a:r>
              <a:rPr dirty="0"/>
              <a:t>Automatically create an attendance record</a:t>
            </a:r>
            <a:endParaRPr lang="en-US" dirty="0"/>
          </a:p>
          <a:p>
            <a:pPr>
              <a:defRPr sz="1120">
                <a:solidFill>
                  <a:srgbClr val="374452"/>
                </a:solidFill>
                <a:latin typeface="Aptos"/>
              </a:defRPr>
            </a:pPr>
            <a:r>
              <a:rPr dirty="0"/>
              <a:t> with the current date.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69080" y="3794760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270248" y="4023360"/>
            <a:ext cx="475488" cy="475488"/>
          </a:xfrm>
          <a:prstGeom prst="ellipse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70248" y="4096512"/>
            <a:ext cx="4754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3752" y="3977640"/>
            <a:ext cx="1965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3454"/>
                </a:solidFill>
                <a:latin typeface="Aptos"/>
              </a:defRPr>
            </a:pPr>
            <a:r>
              <a:t>Approval Workflow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544568"/>
            <a:ext cx="2815194" cy="4370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374452"/>
                </a:solidFill>
                <a:latin typeface="Aptos"/>
              </a:defRPr>
            </a:pPr>
            <a:r>
              <a:rPr dirty="0"/>
              <a:t>Allow authorized users to approve or reject</a:t>
            </a:r>
            <a:endParaRPr lang="en-US" dirty="0"/>
          </a:p>
          <a:p>
            <a:pPr>
              <a:defRPr sz="1120">
                <a:solidFill>
                  <a:srgbClr val="374452"/>
                </a:solidFill>
                <a:latin typeface="Aptos"/>
              </a:defRPr>
            </a:pPr>
            <a:r>
              <a:rPr dirty="0"/>
              <a:t> attendance.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3794760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653528" y="4023360"/>
            <a:ext cx="475488" cy="475488"/>
          </a:xfrm>
          <a:prstGeom prst="ellipse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53528" y="4096512"/>
            <a:ext cx="4754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2" y="3977640"/>
            <a:ext cx="1965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3454"/>
                </a:solidFill>
                <a:latin typeface="Aptos"/>
              </a:defRPr>
            </a:pPr>
            <a:r>
              <a:t>Student History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4544568"/>
            <a:ext cx="2717411" cy="4370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374452"/>
                </a:solidFill>
                <a:latin typeface="Aptos"/>
              </a:defRPr>
            </a:pPr>
            <a:r>
              <a:rPr dirty="0"/>
              <a:t>Let students view attendance history and</a:t>
            </a:r>
            <a:endParaRPr lang="en-US" dirty="0"/>
          </a:p>
          <a:p>
            <a:pPr>
              <a:defRPr sz="1120">
                <a:solidFill>
                  <a:srgbClr val="374452"/>
                </a:solidFill>
                <a:latin typeface="Aptos"/>
              </a:defRPr>
            </a:pPr>
            <a:r>
              <a:rPr dirty="0"/>
              <a:t> profile information.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6291072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F6C7A"/>
                </a:solidFill>
                <a:latin typeface="Aptos"/>
              </a:defRPr>
            </a:pPr>
            <a:r>
              <a:t>Student Attendance Management System  •  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9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454"/>
                </a:solidFill>
                <a:latin typeface="Aptos Display"/>
              </a:defRPr>
            </a:pPr>
            <a:r>
              <a:t>SCOPE OF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6128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C7A"/>
                </a:solidFill>
                <a:latin typeface="Aptos"/>
              </a:defRPr>
            </a:pPr>
            <a:r>
              <a:t>The project covers the complete student attendance process from registration to approval.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662940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121408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9D97"/>
                </a:solidFill>
                <a:latin typeface="Aptos"/>
              </a:defRPr>
            </a:pPr>
            <a:r>
              <a:t>INCLUDED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78608"/>
            <a:ext cx="58978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374452"/>
                </a:solidFill>
                <a:latin typeface="Aptos"/>
              </a:defRPr>
            </a:pPr>
            <a:r>
              <a:t>✓  Student registration with personal details</a:t>
            </a:r>
          </a:p>
          <a:p>
            <a:pPr>
              <a:spcAft>
                <a:spcPts val="600"/>
              </a:spcAft>
              <a:defRPr sz="1230">
                <a:solidFill>
                  <a:srgbClr val="374452"/>
                </a:solidFill>
                <a:latin typeface="Aptos"/>
              </a:defRPr>
            </a:pPr>
            <a:r>
              <a:t>✓  One registered face image per student</a:t>
            </a:r>
          </a:p>
          <a:p>
            <a:pPr>
              <a:spcAft>
                <a:spcPts val="600"/>
              </a:spcAft>
              <a:defRPr sz="1230">
                <a:solidFill>
                  <a:srgbClr val="374452"/>
                </a:solidFill>
                <a:latin typeface="Aptos"/>
              </a:defRPr>
            </a:pPr>
            <a:r>
              <a:t>✓  Superadmin approval of student accounts</a:t>
            </a:r>
          </a:p>
          <a:p>
            <a:pPr>
              <a:spcAft>
                <a:spcPts val="600"/>
              </a:spcAft>
              <a:defRPr sz="1230">
                <a:solidFill>
                  <a:srgbClr val="374452"/>
                </a:solidFill>
                <a:latin typeface="Aptos"/>
              </a:defRPr>
            </a:pPr>
            <a:r>
              <a:t>✓  Student login and role-based access</a:t>
            </a:r>
          </a:p>
          <a:p>
            <a:pPr>
              <a:spcAft>
                <a:spcPts val="600"/>
              </a:spcAft>
              <a:defRPr sz="1230">
                <a:solidFill>
                  <a:srgbClr val="374452"/>
                </a:solidFill>
                <a:latin typeface="Aptos"/>
              </a:defRPr>
            </a:pPr>
            <a:r>
              <a:t>✓  Camera-based face verification</a:t>
            </a:r>
          </a:p>
          <a:p>
            <a:pPr>
              <a:spcAft>
                <a:spcPts val="600"/>
              </a:spcAft>
              <a:defRPr sz="1230">
                <a:solidFill>
                  <a:srgbClr val="374452"/>
                </a:solidFill>
                <a:latin typeface="Aptos"/>
              </a:defRPr>
            </a:pPr>
            <a:r>
              <a:t>✓  Attendance creation with date and status</a:t>
            </a:r>
          </a:p>
          <a:p>
            <a:pPr>
              <a:spcAft>
                <a:spcPts val="600"/>
              </a:spcAft>
              <a:defRPr sz="1230">
                <a:solidFill>
                  <a:srgbClr val="374452"/>
                </a:solidFill>
                <a:latin typeface="Aptos"/>
              </a:defRPr>
            </a:pPr>
            <a:r>
              <a:t>✓  Admin / Superadmin approval or rejection</a:t>
            </a:r>
          </a:p>
          <a:p>
            <a:pPr>
              <a:spcAft>
                <a:spcPts val="600"/>
              </a:spcAft>
              <a:defRPr sz="1230">
                <a:solidFill>
                  <a:srgbClr val="374452"/>
                </a:solidFill>
                <a:latin typeface="Aptos"/>
              </a:defRPr>
            </a:pPr>
            <a:r>
              <a:t>✓  Attendance history and student profile</a:t>
            </a:r>
          </a:p>
          <a:p>
            <a:pPr>
              <a:spcAft>
                <a:spcPts val="600"/>
              </a:spcAft>
              <a:defRPr sz="1230">
                <a:solidFill>
                  <a:srgbClr val="374452"/>
                </a:solidFill>
                <a:latin typeface="Aptos"/>
              </a:defRPr>
            </a:pPr>
            <a:r>
              <a:t>✓  Email notification for approved attendance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874519"/>
            <a:ext cx="3840480" cy="3794760"/>
          </a:xfrm>
          <a:prstGeom prst="roundRect">
            <a:avLst/>
          </a:prstGeom>
          <a:solidFill>
            <a:srgbClr val="E7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79" y="212140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B77A7"/>
                </a:solidFill>
                <a:latin typeface="Aptos"/>
              </a:defRPr>
            </a:pPr>
            <a:r>
              <a:t>CURRENT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606040"/>
            <a:ext cx="3063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374452"/>
                </a:solidFill>
                <a:latin typeface="Aptos"/>
              </a:defRPr>
            </a:pPr>
            <a:r>
              <a:t>•  No separate face training or encoding</a:t>
            </a:r>
          </a:p>
          <a:p>
            <a:pPr>
              <a:spcAft>
                <a:spcPts val="1400"/>
              </a:spcAft>
              <a:defRPr sz="1300">
                <a:solidFill>
                  <a:srgbClr val="374452"/>
                </a:solidFill>
                <a:latin typeface="Aptos"/>
              </a:defRPr>
            </a:pPr>
            <a:r>
              <a:t>•  One student face at a time</a:t>
            </a:r>
          </a:p>
          <a:p>
            <a:pPr>
              <a:spcAft>
                <a:spcPts val="1400"/>
              </a:spcAft>
              <a:defRPr sz="1300">
                <a:solidFill>
                  <a:srgbClr val="374452"/>
                </a:solidFill>
                <a:latin typeface="Aptos"/>
              </a:defRPr>
            </a:pPr>
            <a:r>
              <a:t>•  No Excel / CSV export</a:t>
            </a:r>
          </a:p>
          <a:p>
            <a:pPr>
              <a:spcAft>
                <a:spcPts val="1400"/>
              </a:spcAft>
              <a:defRPr sz="1300">
                <a:solidFill>
                  <a:srgbClr val="374452"/>
                </a:solidFill>
                <a:latin typeface="Aptos"/>
              </a:defRPr>
            </a:pPr>
            <a:r>
              <a:t>•  No multiple classes or subjects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715000"/>
            <a:ext cx="20574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833872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93454"/>
                </a:solidFill>
                <a:latin typeface="Aptos"/>
              </a:defRPr>
            </a:pPr>
            <a:r>
              <a:t>REGISTER</a:t>
            </a:r>
          </a:p>
        </p:txBody>
      </p:sp>
      <p:sp>
        <p:nvSpPr>
          <p:cNvPr id="13" name="Chevron 12"/>
          <p:cNvSpPr/>
          <p:nvPr/>
        </p:nvSpPr>
        <p:spPr>
          <a:xfrm>
            <a:off x="3044952" y="5843016"/>
            <a:ext cx="320040" cy="246888"/>
          </a:xfrm>
          <a:prstGeom prst="chevron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57600" y="5715000"/>
            <a:ext cx="20574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5833872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93454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6" name="Chevron 15"/>
          <p:cNvSpPr/>
          <p:nvPr/>
        </p:nvSpPr>
        <p:spPr>
          <a:xfrm>
            <a:off x="5833872" y="5843016"/>
            <a:ext cx="320040" cy="246888"/>
          </a:xfrm>
          <a:prstGeom prst="chevron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46520" y="5715000"/>
            <a:ext cx="20574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5833872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93454"/>
                </a:solidFill>
                <a:latin typeface="Aptos"/>
              </a:defRPr>
            </a:pPr>
            <a:r>
              <a:t>RECORD</a:t>
            </a:r>
          </a:p>
        </p:txBody>
      </p:sp>
      <p:sp>
        <p:nvSpPr>
          <p:cNvPr id="19" name="Chevron 18"/>
          <p:cNvSpPr/>
          <p:nvPr/>
        </p:nvSpPr>
        <p:spPr>
          <a:xfrm>
            <a:off x="8622792" y="5843016"/>
            <a:ext cx="320040" cy="246888"/>
          </a:xfrm>
          <a:prstGeom prst="chevron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235439" y="5715000"/>
            <a:ext cx="20574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39" y="5833872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93454"/>
                </a:solidFill>
                <a:latin typeface="Aptos"/>
              </a:defRPr>
            </a:pPr>
            <a:r>
              <a:t>APPROVE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F6C7A"/>
                </a:solidFill>
                <a:latin typeface="Aptos"/>
              </a:defRPr>
            </a:pPr>
            <a:r>
              <a:t>Student Attendance Management System  •  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9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454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43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C7A"/>
                </a:solidFill>
                <a:latin typeface="Aptos"/>
              </a:defRPr>
            </a:pPr>
            <a:r>
              <a:t>The project combines web technologies, database management and face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2331720" cy="91440"/>
          </a:xfrm>
          <a:prstGeom prst="rect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208483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3454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818" y="2542032"/>
            <a:ext cx="19933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70">
                <a:solidFill>
                  <a:srgbClr val="374452"/>
                </a:solidFill>
                <a:latin typeface="Aptos"/>
              </a:defRPr>
            </a:pPr>
            <a:r>
              <a:rPr dirty="0"/>
              <a:t>HTML • CSS • JavaScript • Bootstrap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9312" y="182880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39312" y="1828800"/>
            <a:ext cx="2331720" cy="91440"/>
          </a:xfrm>
          <a:prstGeom prst="rect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94760" y="208483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3454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542032"/>
            <a:ext cx="19933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70">
                <a:solidFill>
                  <a:srgbClr val="374452"/>
                </a:solidFill>
                <a:latin typeface="Aptos"/>
              </a:defRPr>
            </a:pPr>
            <a:r>
              <a:t>Python • Django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92824" y="182880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92824" y="1828800"/>
            <a:ext cx="2331720" cy="91440"/>
          </a:xfrm>
          <a:prstGeom prst="rect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48272" y="208483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3454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2542032"/>
            <a:ext cx="19933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70">
                <a:solidFill>
                  <a:srgbClr val="374452"/>
                </a:solidFill>
                <a:latin typeface="Aptos"/>
              </a:defRPr>
            </a:pPr>
            <a:r>
              <a:rPr dirty="0"/>
              <a:t>MySQL • </a:t>
            </a:r>
            <a:r>
              <a:rPr dirty="0" err="1"/>
              <a:t>mysqlclient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9546336" y="182880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46336" y="1828800"/>
            <a:ext cx="2331720" cy="91440"/>
          </a:xfrm>
          <a:prstGeom prst="rect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01784" y="208483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3454"/>
                </a:solidFill>
                <a:latin typeface="Aptos"/>
              </a:defRPr>
            </a:pPr>
            <a:r>
              <a:t>FACE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1784" y="2542032"/>
            <a:ext cx="19933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70">
                <a:solidFill>
                  <a:srgbClr val="374452"/>
                </a:solidFill>
                <a:latin typeface="Aptos"/>
              </a:defRPr>
            </a:pPr>
            <a:r>
              <a:t>DeepFace • TensorFlow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0332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3703320"/>
            <a:ext cx="2331720" cy="91440"/>
          </a:xfrm>
          <a:prstGeom prst="rect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3454"/>
                </a:solidFill>
                <a:latin typeface="Aptos"/>
              </a:defRPr>
            </a:pPr>
            <a:r>
              <a:t>CAMERA 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416552"/>
            <a:ext cx="19933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70">
                <a:solidFill>
                  <a:srgbClr val="374452"/>
                </a:solidFill>
                <a:latin typeface="Aptos"/>
              </a:defRPr>
            </a:pPr>
            <a:r>
              <a:t>OpenCV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39312" y="370332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39312" y="3703320"/>
            <a:ext cx="2331720" cy="91440"/>
          </a:xfrm>
          <a:prstGeom prst="rect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94760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3454"/>
                </a:solidFill>
                <a:latin typeface="Aptos"/>
              </a:defRPr>
            </a:pPr>
            <a:r>
              <a:t>DEVELOPMENT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416552"/>
            <a:ext cx="19933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70">
                <a:solidFill>
                  <a:srgbClr val="374452"/>
                </a:solidFill>
                <a:latin typeface="Aptos"/>
              </a:defRPr>
            </a:pPr>
            <a:r>
              <a:t>VS Code • Windows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92824" y="370332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92824" y="3703320"/>
            <a:ext cx="2331720" cy="91440"/>
          </a:xfrm>
          <a:prstGeom prst="rect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48272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3454"/>
                </a:solidFill>
                <a:latin typeface="Aptos"/>
              </a:defRPr>
            </a:pPr>
            <a:r>
              <a:t>EMAIL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4416552"/>
            <a:ext cx="19933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70">
                <a:solidFill>
                  <a:srgbClr val="374452"/>
                </a:solidFill>
                <a:latin typeface="Aptos"/>
              </a:defRPr>
            </a:pPr>
            <a:r>
              <a:rPr dirty="0"/>
              <a:t>SMTP Email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46336" y="370332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546336" y="3703320"/>
            <a:ext cx="2331720" cy="91440"/>
          </a:xfrm>
          <a:prstGeom prst="rect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01784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3454"/>
                </a:solidFill>
                <a:latin typeface="Aptos"/>
              </a:defRPr>
            </a:pPr>
            <a:r>
              <a:t>DEPLOYMENT / TOOLS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71153" y="4416552"/>
            <a:ext cx="19933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70">
                <a:solidFill>
                  <a:srgbClr val="374452"/>
                </a:solidFill>
                <a:latin typeface="Aptos"/>
              </a:defRPr>
            </a:pPr>
            <a:r>
              <a:rPr dirty="0" err="1"/>
              <a:t>WhiteNoise</a:t>
            </a:r>
            <a:r>
              <a:rPr dirty="0"/>
              <a:t> • </a:t>
            </a:r>
            <a:r>
              <a:rPr dirty="0" err="1"/>
              <a:t>Gunicorn</a:t>
            </a:r>
            <a:r>
              <a:rPr dirty="0"/>
              <a:t> • Git &amp; GitHub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486400"/>
            <a:ext cx="10927080" cy="566928"/>
          </a:xfrm>
          <a:prstGeom prst="roundRect">
            <a:avLst/>
          </a:prstGeom>
          <a:solidFill>
            <a:srgbClr val="E7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641848"/>
            <a:ext cx="10469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3454"/>
                </a:solidFill>
                <a:latin typeface="Aptos"/>
              </a:defRPr>
            </a:pPr>
            <a:r>
              <a:t>Browser  →  Django  →  MySQL     |     Camera  →  OpenCV  →  DeepFace / TensorFlow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6291072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F6C7A"/>
                </a:solidFill>
                <a:latin typeface="Aptos"/>
              </a:defRPr>
            </a:pPr>
            <a:r>
              <a:t>Student Attendance Management System  •  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9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454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43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C7A"/>
                </a:solidFill>
                <a:latin typeface="Aptos"/>
              </a:defRPr>
            </a:pPr>
            <a:r>
              <a:t>A layered design connects the user interface, Django application, database and face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1783080"/>
            <a:ext cx="96469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34440" y="1783080"/>
            <a:ext cx="109728" cy="530352"/>
          </a:xfrm>
          <a:prstGeom prst="rect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36192" y="1883664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3454"/>
                </a:solidFill>
                <a:latin typeface="Aptos"/>
              </a:defRPr>
            </a:pPr>
            <a:r>
              <a:t>USER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883664"/>
            <a:ext cx="6720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452"/>
                </a:solidFill>
                <a:latin typeface="Aptos"/>
              </a:defRPr>
            </a:pPr>
            <a:r>
              <a:t>Student  •  Admin  •  Superadmin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468880"/>
            <a:ext cx="96469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34440" y="2468880"/>
            <a:ext cx="109728" cy="530352"/>
          </a:xfrm>
          <a:prstGeom prst="rect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36192" y="2569464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3454"/>
                </a:solidFill>
                <a:latin typeface="Aptos"/>
              </a:defRPr>
            </a:pPr>
            <a:r>
              <a:t>WEB / UI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569464"/>
            <a:ext cx="6720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452"/>
                </a:solidFill>
                <a:latin typeface="Aptos"/>
              </a:defRPr>
            </a:pPr>
            <a:r>
              <a:t>HTML  •  CSS  •  JavaScript  •  Bootstrap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3154680"/>
            <a:ext cx="96469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34440" y="3154680"/>
            <a:ext cx="109728" cy="530352"/>
          </a:xfrm>
          <a:prstGeom prst="rect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36192" y="3255264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3454"/>
                </a:solidFill>
                <a:latin typeface="Aptos"/>
              </a:defRPr>
            </a:pPr>
            <a:r>
              <a:t>APPLICATION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255264"/>
            <a:ext cx="6720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452"/>
                </a:solidFill>
                <a:latin typeface="Aptos"/>
              </a:defRPr>
            </a:pPr>
            <a:r>
              <a:t>Django  •  Authentication  •  Role-based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3840480"/>
            <a:ext cx="96469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34440" y="3840480"/>
            <a:ext cx="109728" cy="530352"/>
          </a:xfrm>
          <a:prstGeom prst="rect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36192" y="3941064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3454"/>
                </a:solidFill>
                <a:latin typeface="Aptos"/>
              </a:defRPr>
            </a:pPr>
            <a:r>
              <a:t>VERIFICATION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941064"/>
            <a:ext cx="6720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452"/>
                </a:solidFill>
                <a:latin typeface="Aptos"/>
              </a:defRPr>
            </a:pPr>
            <a:r>
              <a:t>OpenCV  →  DeepFace  →  TensorFlow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4440" y="4526280"/>
            <a:ext cx="96469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34440" y="4526280"/>
            <a:ext cx="109728" cy="530352"/>
          </a:xfrm>
          <a:prstGeom prst="rect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36192" y="4626864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3454"/>
                </a:solidFill>
                <a:latin typeface="Aptos"/>
              </a:defRPr>
            </a:pPr>
            <a:r>
              <a:t>DATA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626864"/>
            <a:ext cx="6720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452"/>
                </a:solidFill>
                <a:latin typeface="Aptos"/>
              </a:defRPr>
            </a:pPr>
            <a:r>
              <a:t>MySQL  •  Student data  •  Attendance records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5806440" y="2313432"/>
            <a:ext cx="411480" cy="246888"/>
          </a:xfrm>
          <a:prstGeom prst="downArrow">
            <a:avLst/>
          </a:prstGeom>
          <a:solidFill>
            <a:srgbClr val="B9C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own Arrow 25"/>
          <p:cNvSpPr/>
          <p:nvPr/>
        </p:nvSpPr>
        <p:spPr>
          <a:xfrm>
            <a:off x="5806440" y="2999232"/>
            <a:ext cx="411480" cy="246888"/>
          </a:xfrm>
          <a:prstGeom prst="downArrow">
            <a:avLst/>
          </a:prstGeom>
          <a:solidFill>
            <a:srgbClr val="B9C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Down Arrow 26"/>
          <p:cNvSpPr/>
          <p:nvPr/>
        </p:nvSpPr>
        <p:spPr>
          <a:xfrm>
            <a:off x="5806440" y="3685032"/>
            <a:ext cx="411480" cy="246888"/>
          </a:xfrm>
          <a:prstGeom prst="downArrow">
            <a:avLst/>
          </a:prstGeom>
          <a:solidFill>
            <a:srgbClr val="B9C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Down Arrow 27"/>
          <p:cNvSpPr/>
          <p:nvPr/>
        </p:nvSpPr>
        <p:spPr>
          <a:xfrm>
            <a:off x="5806440" y="4370832"/>
            <a:ext cx="411480" cy="246888"/>
          </a:xfrm>
          <a:prstGeom prst="downArrow">
            <a:avLst/>
          </a:prstGeom>
          <a:solidFill>
            <a:srgbClr val="B9C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920240" y="5349240"/>
            <a:ext cx="8321040" cy="594360"/>
          </a:xfrm>
          <a:prstGeom prst="roundRect">
            <a:avLst/>
          </a:prstGeom>
          <a:solidFill>
            <a:srgbClr val="E7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148840" y="5513832"/>
            <a:ext cx="7863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3454"/>
                </a:solidFill>
                <a:latin typeface="Aptos"/>
              </a:defRPr>
            </a:pPr>
            <a:r>
              <a:t>Attendance request → authentication → face verification → database record → approval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6291072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F6C7A"/>
                </a:solidFill>
                <a:latin typeface="Aptos"/>
              </a:defRPr>
            </a:pPr>
            <a:r>
              <a:t>Student Attendance Management System  •  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9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454"/>
                </a:solidFill>
                <a:latin typeface="Aptos Display"/>
              </a:defRPr>
            </a:pPr>
            <a:r>
              <a:t>USER ROLES &amp;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43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C7A"/>
                </a:solidFill>
                <a:latin typeface="Aptos"/>
              </a:defRPr>
            </a:pPr>
            <a:r>
              <a:t>Role-based access keeps student and administrative functions clearly separated.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24612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3246120" cy="164592"/>
          </a:xfrm>
          <a:prstGeom prst="rect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947672" y="2212848"/>
            <a:ext cx="713232" cy="713232"/>
          </a:xfrm>
          <a:prstGeom prst="ellipse">
            <a:avLst/>
          </a:prstGeom>
          <a:solidFill>
            <a:srgbClr val="E7F1F9"/>
          </a:solidFill>
          <a:ln>
            <a:solidFill>
              <a:srgbClr val="2B7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157984" y="2368296"/>
            <a:ext cx="292608" cy="292608"/>
          </a:xfrm>
          <a:prstGeom prst="ellipse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090672"/>
            <a:ext cx="2788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3454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84448"/>
            <a:ext cx="26060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452"/>
                </a:solidFill>
                <a:latin typeface="Aptos"/>
              </a:defRPr>
            </a:pPr>
            <a:r>
              <a:t>• Registration</a:t>
            </a:r>
          </a:p>
          <a:p>
            <a:pPr>
              <a:spcAft>
                <a:spcPts val="500"/>
              </a:spcAft>
              <a:defRPr sz="1150">
                <a:solidFill>
                  <a:srgbClr val="374452"/>
                </a:solidFill>
                <a:latin typeface="Aptos"/>
              </a:defRPr>
            </a:pPr>
            <a:r>
              <a:t>• Login</a:t>
            </a:r>
          </a:p>
          <a:p>
            <a:pPr>
              <a:spcAft>
                <a:spcPts val="500"/>
              </a:spcAft>
              <a:defRPr sz="1150">
                <a:solidFill>
                  <a:srgbClr val="374452"/>
                </a:solidFill>
                <a:latin typeface="Aptos"/>
              </a:defRPr>
            </a:pPr>
            <a:r>
              <a:t>• Face verification</a:t>
            </a:r>
          </a:p>
          <a:p>
            <a:pPr>
              <a:spcAft>
                <a:spcPts val="500"/>
              </a:spcAft>
              <a:defRPr sz="1150">
                <a:solidFill>
                  <a:srgbClr val="374452"/>
                </a:solidFill>
                <a:latin typeface="Aptos"/>
              </a:defRPr>
            </a:pPr>
            <a:r>
              <a:t>• Submit attendance</a:t>
            </a:r>
          </a:p>
          <a:p>
            <a:pPr>
              <a:spcAft>
                <a:spcPts val="500"/>
              </a:spcAft>
              <a:defRPr sz="1150">
                <a:solidFill>
                  <a:srgbClr val="374452"/>
                </a:solidFill>
                <a:latin typeface="Aptos"/>
              </a:defRPr>
            </a:pPr>
            <a:r>
              <a:t>• View history &amp;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874519"/>
            <a:ext cx="324612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5968" y="1874519"/>
            <a:ext cx="3246120" cy="164592"/>
          </a:xfrm>
          <a:prstGeom prst="rect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577840" y="2212848"/>
            <a:ext cx="713232" cy="713232"/>
          </a:xfrm>
          <a:prstGeom prst="ellipse">
            <a:avLst/>
          </a:prstGeom>
          <a:solidFill>
            <a:srgbClr val="E7F1F9"/>
          </a:solidFill>
          <a:ln>
            <a:solidFill>
              <a:srgbClr val="38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788152" y="2368296"/>
            <a:ext cx="292608" cy="292608"/>
          </a:xfrm>
          <a:prstGeom prst="ellipse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3090672"/>
            <a:ext cx="2788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3454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3584448"/>
            <a:ext cx="26060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452"/>
                </a:solidFill>
                <a:latin typeface="Aptos"/>
              </a:defRPr>
            </a:pPr>
            <a:r>
              <a:t>• Login</a:t>
            </a:r>
          </a:p>
          <a:p>
            <a:pPr>
              <a:spcAft>
                <a:spcPts val="500"/>
              </a:spcAft>
              <a:defRPr sz="1150">
                <a:solidFill>
                  <a:srgbClr val="374452"/>
                </a:solidFill>
                <a:latin typeface="Aptos"/>
              </a:defRPr>
            </a:pPr>
            <a:r>
              <a:t>• View attendance</a:t>
            </a:r>
          </a:p>
          <a:p>
            <a:pPr>
              <a:spcAft>
                <a:spcPts val="500"/>
              </a:spcAft>
              <a:defRPr sz="1150">
                <a:solidFill>
                  <a:srgbClr val="374452"/>
                </a:solidFill>
                <a:latin typeface="Aptos"/>
              </a:defRPr>
            </a:pPr>
            <a:r>
              <a:t>• Approve attendance</a:t>
            </a:r>
          </a:p>
          <a:p>
            <a:pPr>
              <a:spcAft>
                <a:spcPts val="500"/>
              </a:spcAft>
              <a:defRPr sz="1150">
                <a:solidFill>
                  <a:srgbClr val="374452"/>
                </a:solidFill>
                <a:latin typeface="Aptos"/>
              </a:defRPr>
            </a:pPr>
            <a:r>
              <a:t>• Reject attendance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6136" y="1874519"/>
            <a:ext cx="324612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46136" y="1874519"/>
            <a:ext cx="3246120" cy="164592"/>
          </a:xfrm>
          <a:prstGeom prst="rect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208008" y="2212848"/>
            <a:ext cx="713232" cy="713232"/>
          </a:xfrm>
          <a:prstGeom prst="ellipse">
            <a:avLst/>
          </a:prstGeom>
          <a:solidFill>
            <a:srgbClr val="E7F1F9"/>
          </a:solidFill>
          <a:ln>
            <a:solidFill>
              <a:srgbClr val="2B7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418319" y="2368296"/>
            <a:ext cx="292608" cy="292608"/>
          </a:xfrm>
          <a:prstGeom prst="ellipse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4736" y="3090672"/>
            <a:ext cx="2788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3454"/>
                </a:solidFill>
                <a:latin typeface="Aptos"/>
              </a:defRPr>
            </a:pPr>
            <a:r>
              <a:t>SUPERADMIN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3584448"/>
            <a:ext cx="26060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74452"/>
                </a:solidFill>
                <a:latin typeface="Aptos"/>
              </a:defRPr>
            </a:pPr>
            <a:r>
              <a:t>• Login</a:t>
            </a:r>
          </a:p>
          <a:p>
            <a:pPr>
              <a:spcAft>
                <a:spcPts val="500"/>
              </a:spcAft>
              <a:defRPr sz="1150">
                <a:solidFill>
                  <a:srgbClr val="374452"/>
                </a:solidFill>
                <a:latin typeface="Aptos"/>
              </a:defRPr>
            </a:pPr>
            <a:r>
              <a:t>• Approve students</a:t>
            </a:r>
          </a:p>
          <a:p>
            <a:pPr>
              <a:spcAft>
                <a:spcPts val="500"/>
              </a:spcAft>
              <a:defRPr sz="1150">
                <a:solidFill>
                  <a:srgbClr val="374452"/>
                </a:solidFill>
                <a:latin typeface="Aptos"/>
              </a:defRPr>
            </a:pPr>
            <a:r>
              <a:t>• Approve attendance</a:t>
            </a:r>
          </a:p>
          <a:p>
            <a:pPr>
              <a:spcAft>
                <a:spcPts val="500"/>
              </a:spcAft>
              <a:defRPr sz="1150">
                <a:solidFill>
                  <a:srgbClr val="374452"/>
                </a:solidFill>
                <a:latin typeface="Aptos"/>
              </a:defRPr>
            </a:pPr>
            <a:r>
              <a:t>• Reject attendance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19" y="5257800"/>
            <a:ext cx="8458200" cy="640080"/>
          </a:xfrm>
          <a:prstGeom prst="roundRect">
            <a:avLst/>
          </a:prstGeom>
          <a:solidFill>
            <a:srgbClr val="E7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03120" y="5431536"/>
            <a:ext cx="8001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3454"/>
                </a:solidFill>
                <a:latin typeface="Aptos"/>
              </a:defRPr>
            </a:pPr>
            <a:r>
              <a:t>STUDENT  →  SUBMIT  →  ADMIN / SUPERADMIN  →  APPROVE OR REJECT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6291072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F6C7A"/>
                </a:solidFill>
                <a:latin typeface="Aptos"/>
              </a:defRPr>
            </a:pPr>
            <a:r>
              <a:t>Student Attendance Management System  •  Page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9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454"/>
                </a:solidFill>
                <a:latin typeface="Aptos Display"/>
              </a:defRPr>
            </a:pPr>
            <a:r>
              <a:t>STUDENT REGISTRATION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43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C7A"/>
                </a:solidFill>
                <a:latin typeface="Aptos"/>
              </a:defRPr>
            </a:pPr>
            <a:r>
              <a:t>Registration collects student details and a face image before account approval.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97864" y="2395728"/>
            <a:ext cx="566928" cy="566928"/>
          </a:xfrm>
          <a:prstGeom prst="ellipse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97864" y="2551176"/>
            <a:ext cx="5669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182112"/>
            <a:ext cx="16276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93454"/>
                </a:solidFill>
                <a:latin typeface="Aptos"/>
              </a:defRPr>
            </a:pPr>
            <a:r>
              <a:t>ENTER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020" y="3639312"/>
            <a:ext cx="1835760" cy="3939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80">
                <a:solidFill>
                  <a:srgbClr val="374452"/>
                </a:solidFill>
                <a:latin typeface="Aptos"/>
              </a:defRPr>
            </a:pPr>
            <a:r>
              <a:rPr dirty="0"/>
              <a:t>Student provides personal and</a:t>
            </a:r>
            <a:endParaRPr lang="en-US" dirty="0"/>
          </a:p>
          <a:p>
            <a:pPr algn="ctr">
              <a:defRPr sz="980">
                <a:solidFill>
                  <a:srgbClr val="374452"/>
                </a:solidFill>
                <a:latin typeface="Aptos"/>
              </a:defRPr>
            </a:pPr>
            <a:r>
              <a:rPr dirty="0"/>
              <a:t> account information.</a:t>
            </a:r>
          </a:p>
        </p:txBody>
      </p:sp>
      <p:sp>
        <p:nvSpPr>
          <p:cNvPr id="10" name="Chevron 9"/>
          <p:cNvSpPr/>
          <p:nvPr/>
        </p:nvSpPr>
        <p:spPr>
          <a:xfrm>
            <a:off x="2532888" y="2971800"/>
            <a:ext cx="274320" cy="320040"/>
          </a:xfrm>
          <a:prstGeom prst="chevron">
            <a:avLst/>
          </a:prstGeom>
          <a:solidFill>
            <a:srgbClr val="B8CA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788920" y="2148840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483863" y="2395728"/>
            <a:ext cx="566928" cy="566928"/>
          </a:xfrm>
          <a:prstGeom prst="ellipse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83863" y="2551176"/>
            <a:ext cx="5669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3182112"/>
            <a:ext cx="16276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93454"/>
                </a:solidFill>
                <a:latin typeface="Aptos"/>
              </a:defRPr>
            </a:pPr>
            <a:r>
              <a:t>ADD FACE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3332" y="3639312"/>
            <a:ext cx="1717137" cy="3939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80">
                <a:solidFill>
                  <a:srgbClr val="374452"/>
                </a:solidFill>
                <a:latin typeface="Aptos"/>
              </a:defRPr>
            </a:pPr>
            <a:r>
              <a:rPr dirty="0"/>
              <a:t>One registered face image is</a:t>
            </a:r>
            <a:endParaRPr lang="en-US" dirty="0"/>
          </a:p>
          <a:p>
            <a:pPr algn="ctr">
              <a:defRPr sz="980">
                <a:solidFill>
                  <a:srgbClr val="374452"/>
                </a:solidFill>
                <a:latin typeface="Aptos"/>
              </a:defRPr>
            </a:pPr>
            <a:r>
              <a:rPr dirty="0"/>
              <a:t> uploaded.</a:t>
            </a:r>
          </a:p>
        </p:txBody>
      </p:sp>
      <p:sp>
        <p:nvSpPr>
          <p:cNvPr id="16" name="Chevron 15"/>
          <p:cNvSpPr/>
          <p:nvPr/>
        </p:nvSpPr>
        <p:spPr>
          <a:xfrm>
            <a:off x="4818888" y="2971800"/>
            <a:ext cx="274320" cy="320040"/>
          </a:xfrm>
          <a:prstGeom prst="chevron">
            <a:avLst/>
          </a:prstGeom>
          <a:solidFill>
            <a:srgbClr val="B8CA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74920" y="2148840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769864" y="2395728"/>
            <a:ext cx="566928" cy="566928"/>
          </a:xfrm>
          <a:prstGeom prst="ellipse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9864" y="2551176"/>
            <a:ext cx="5669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3182112"/>
            <a:ext cx="16276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93454"/>
                </a:solidFill>
                <a:latin typeface="Aptos"/>
              </a:defRPr>
            </a:pPr>
            <a:r>
              <a:t>ACCOUNT PENDING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0246" y="3639312"/>
            <a:ext cx="1595309" cy="3939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80">
                <a:solidFill>
                  <a:srgbClr val="374452"/>
                </a:solidFill>
                <a:latin typeface="Aptos"/>
              </a:defRPr>
            </a:pPr>
            <a:r>
              <a:rPr dirty="0"/>
              <a:t>The new account waits for</a:t>
            </a:r>
            <a:endParaRPr lang="en-US" dirty="0"/>
          </a:p>
          <a:p>
            <a:pPr algn="ctr">
              <a:defRPr sz="980">
                <a:solidFill>
                  <a:srgbClr val="374452"/>
                </a:solidFill>
                <a:latin typeface="Aptos"/>
              </a:defRPr>
            </a:pPr>
            <a:r>
              <a:rPr dirty="0"/>
              <a:t> </a:t>
            </a:r>
            <a:r>
              <a:rPr dirty="0" err="1"/>
              <a:t>Superadmin</a:t>
            </a:r>
            <a:r>
              <a:rPr dirty="0"/>
              <a:t> approval.</a:t>
            </a:r>
          </a:p>
        </p:txBody>
      </p:sp>
      <p:sp>
        <p:nvSpPr>
          <p:cNvPr id="22" name="Chevron 21"/>
          <p:cNvSpPr/>
          <p:nvPr/>
        </p:nvSpPr>
        <p:spPr>
          <a:xfrm>
            <a:off x="7104888" y="2971800"/>
            <a:ext cx="274320" cy="320040"/>
          </a:xfrm>
          <a:prstGeom prst="chevron">
            <a:avLst/>
          </a:prstGeom>
          <a:solidFill>
            <a:srgbClr val="B8CA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360920" y="2148840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055864" y="2395728"/>
            <a:ext cx="566928" cy="566928"/>
          </a:xfrm>
          <a:prstGeom prst="ellipse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55864" y="2551176"/>
            <a:ext cx="5669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12" y="3182112"/>
            <a:ext cx="16276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93454"/>
                </a:solidFill>
                <a:latin typeface="Aptos"/>
              </a:defRPr>
            </a:pPr>
            <a:r>
              <a:t>APPROVAL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21024" y="3639312"/>
            <a:ext cx="2045753" cy="3939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80">
                <a:solidFill>
                  <a:srgbClr val="374452"/>
                </a:solidFill>
                <a:latin typeface="Aptos"/>
              </a:defRPr>
            </a:pPr>
            <a:r>
              <a:rPr dirty="0" err="1"/>
              <a:t>Superadmin</a:t>
            </a:r>
            <a:r>
              <a:rPr dirty="0"/>
              <a:t> reviews and approves</a:t>
            </a:r>
            <a:endParaRPr lang="en-US" dirty="0"/>
          </a:p>
          <a:p>
            <a:pPr algn="ctr">
              <a:defRPr sz="980">
                <a:solidFill>
                  <a:srgbClr val="374452"/>
                </a:solidFill>
                <a:latin typeface="Aptos"/>
              </a:defRPr>
            </a:pPr>
            <a:r>
              <a:rPr dirty="0"/>
              <a:t> the student.</a:t>
            </a:r>
          </a:p>
        </p:txBody>
      </p:sp>
      <p:sp>
        <p:nvSpPr>
          <p:cNvPr id="28" name="Chevron 27"/>
          <p:cNvSpPr/>
          <p:nvPr/>
        </p:nvSpPr>
        <p:spPr>
          <a:xfrm>
            <a:off x="9390888" y="2971800"/>
            <a:ext cx="274320" cy="320040"/>
          </a:xfrm>
          <a:prstGeom prst="chevron">
            <a:avLst/>
          </a:prstGeom>
          <a:solidFill>
            <a:srgbClr val="B8CA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646920" y="2148840"/>
            <a:ext cx="1965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341864" y="2395728"/>
            <a:ext cx="566928" cy="566928"/>
          </a:xfrm>
          <a:prstGeom prst="ellipse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41864" y="2551176"/>
            <a:ext cx="5669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1512" y="3182112"/>
            <a:ext cx="16276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93454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481" y="3639312"/>
            <a:ext cx="1984839" cy="3939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80">
                <a:solidFill>
                  <a:srgbClr val="374452"/>
                </a:solidFill>
                <a:latin typeface="Aptos"/>
              </a:defRPr>
            </a:pPr>
            <a:r>
              <a:rPr dirty="0"/>
              <a:t>Approved student can access the</a:t>
            </a:r>
            <a:endParaRPr lang="en-US" dirty="0"/>
          </a:p>
          <a:p>
            <a:pPr algn="ctr">
              <a:defRPr sz="980">
                <a:solidFill>
                  <a:srgbClr val="374452"/>
                </a:solidFill>
                <a:latin typeface="Aptos"/>
              </a:defRPr>
            </a:pPr>
            <a:r>
              <a:rPr dirty="0"/>
              <a:t> system.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74519" y="4800600"/>
            <a:ext cx="8458200" cy="777240"/>
          </a:xfrm>
          <a:prstGeom prst="roundRect">
            <a:avLst/>
          </a:prstGeom>
          <a:solidFill>
            <a:srgbClr val="E7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103120" y="5010912"/>
            <a:ext cx="8001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193454"/>
                </a:solidFill>
                <a:latin typeface="Aptos"/>
              </a:defRPr>
            </a:pPr>
            <a:r>
              <a:t>NEW STUDENT ACCOUNT  →  PENDING  →  SUPERADMIN APPROVAL  →  ACTIVE ACCESS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6291072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F6C7A"/>
                </a:solidFill>
                <a:latin typeface="Aptos"/>
              </a:defRPr>
            </a:pPr>
            <a:r>
              <a:t>Student Attendance Management System  •  Page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9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454"/>
                </a:solidFill>
                <a:latin typeface="Aptos Display"/>
              </a:defRPr>
            </a:pPr>
            <a:r>
              <a:t>FACE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43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C7A"/>
                </a:solidFill>
                <a:latin typeface="Aptos"/>
              </a:defRPr>
            </a:pPr>
            <a:r>
              <a:t>DeepFace verifies the student's live camera image against the registered face image.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1546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536192" y="2395728"/>
            <a:ext cx="1554480" cy="1554480"/>
          </a:xfrm>
          <a:prstGeom prst="ellipse">
            <a:avLst/>
          </a:prstGeom>
          <a:solidFill>
            <a:srgbClr val="E7F1F9"/>
          </a:solidFill>
          <a:ln w="25400">
            <a:solidFill>
              <a:srgbClr val="38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975104" y="2743200"/>
            <a:ext cx="685800" cy="868680"/>
          </a:xfrm>
          <a:prstGeom prst="ellipse">
            <a:avLst/>
          </a:prstGeom>
          <a:solidFill>
            <a:srgbClr val="FFFFFF"/>
          </a:solidFill>
          <a:ln>
            <a:solidFill>
              <a:srgbClr val="2B7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139696" y="3035808"/>
            <a:ext cx="73152" cy="73152"/>
          </a:xfrm>
          <a:prstGeom prst="ellipse">
            <a:avLst/>
          </a:prstGeom>
          <a:solidFill>
            <a:srgbClr val="19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423160" y="3035808"/>
            <a:ext cx="73152" cy="73152"/>
          </a:xfrm>
          <a:prstGeom prst="ellipse">
            <a:avLst/>
          </a:prstGeom>
          <a:solidFill>
            <a:srgbClr val="19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187952"/>
            <a:ext cx="2606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3454"/>
                </a:solidFill>
                <a:latin typeface="Aptos"/>
              </a:defRPr>
            </a:pPr>
            <a:r>
              <a:t>LIVE CAMERA 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63093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36007" y="1993392"/>
            <a:ext cx="475488" cy="475488"/>
          </a:xfrm>
          <a:prstGeom prst="ellipse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57800" y="193852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3454"/>
                </a:solidFill>
                <a:latin typeface="Aptos"/>
              </a:defRPr>
            </a:pPr>
            <a:r>
              <a:t>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1929384"/>
            <a:ext cx="3794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374452"/>
                </a:solidFill>
                <a:latin typeface="Aptos"/>
              </a:defRPr>
            </a:pPr>
            <a:r>
              <a:t>OpenCV captures the student's 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944368"/>
            <a:ext cx="63093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636007" y="3108960"/>
            <a:ext cx="475488" cy="475488"/>
          </a:xfrm>
          <a:prstGeom prst="ellipse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57800" y="3054096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3454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3044951"/>
            <a:ext cx="3794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374452"/>
                </a:solidFill>
                <a:latin typeface="Aptos"/>
              </a:defRPr>
            </a:pPr>
            <a:r>
              <a:t>DeepFace compares the live image with the registered image.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4059935"/>
            <a:ext cx="63093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636007" y="4224527"/>
            <a:ext cx="475488" cy="475488"/>
          </a:xfrm>
          <a:prstGeom prst="ellipse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57800" y="4169663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3454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4160520"/>
            <a:ext cx="3794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20">
                <a:solidFill>
                  <a:srgbClr val="374452"/>
                </a:solidFill>
                <a:latin typeface="Aptos"/>
              </a:defRPr>
            </a:pPr>
            <a:r>
              <a:t>A successful match allows attendance submission.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5394960"/>
            <a:ext cx="6309360" cy="640080"/>
          </a:xfrm>
          <a:prstGeom prst="roundRect">
            <a:avLst/>
          </a:prstGeom>
          <a:solidFill>
            <a:srgbClr val="E7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5577840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3454"/>
                </a:solidFill>
                <a:latin typeface="Aptos"/>
              </a:defRPr>
            </a:pPr>
            <a:r>
              <a:t>OpenCV  →  DeepFace  →  TensorFlow  →  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349240"/>
            <a:ext cx="2834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74452"/>
                </a:solidFill>
                <a:latin typeface="Aptos"/>
              </a:defRPr>
            </a:pPr>
            <a:r>
              <a:t>One registered face image per student</a:t>
            </a:r>
            <a:br/>
            <a:r>
              <a:t>No separate face training or encoding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6291072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F6C7A"/>
                </a:solidFill>
                <a:latin typeface="Aptos"/>
              </a:defRPr>
            </a:pPr>
            <a:r>
              <a:t>Student Attendance Management System  •  Page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9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454"/>
                </a:solidFill>
                <a:latin typeface="Aptos Display"/>
              </a:defRPr>
            </a:pPr>
            <a:r>
              <a:t>ATTENDANCE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43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C7A"/>
                </a:solidFill>
                <a:latin typeface="Aptos"/>
              </a:defRPr>
            </a:pPr>
            <a:r>
              <a:t>From attendance submission to final approval, each step is recorded in the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148840"/>
            <a:ext cx="14173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7824" y="2395728"/>
            <a:ext cx="484632" cy="484632"/>
          </a:xfrm>
          <a:prstGeom prst="ellipse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2532888"/>
            <a:ext cx="4846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3154680"/>
            <a:ext cx="1188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3454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356" y="3611880"/>
            <a:ext cx="1550425" cy="378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0">
                <a:solidFill>
                  <a:srgbClr val="374452"/>
                </a:solidFill>
                <a:latin typeface="Aptos"/>
              </a:defRPr>
            </a:pPr>
            <a:r>
              <a:rPr dirty="0"/>
              <a:t>Student opens attendance</a:t>
            </a:r>
            <a:endParaRPr lang="en-US" dirty="0"/>
          </a:p>
          <a:p>
            <a:pPr algn="ctr">
              <a:defRPr sz="930">
                <a:solidFill>
                  <a:srgbClr val="374452"/>
                </a:solidFill>
                <a:latin typeface="Aptos"/>
              </a:defRPr>
            </a:pPr>
            <a:r>
              <a:rPr dirty="0"/>
              <a:t> page</a:t>
            </a:r>
          </a:p>
        </p:txBody>
      </p:sp>
      <p:sp>
        <p:nvSpPr>
          <p:cNvPr id="10" name="Chevron 9"/>
          <p:cNvSpPr/>
          <p:nvPr/>
        </p:nvSpPr>
        <p:spPr>
          <a:xfrm>
            <a:off x="1856232" y="3182112"/>
            <a:ext cx="182880" cy="274320"/>
          </a:xfrm>
          <a:prstGeom prst="chevron">
            <a:avLst/>
          </a:prstGeom>
          <a:solidFill>
            <a:srgbClr val="B8CA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057400" y="2148840"/>
            <a:ext cx="14173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523744" y="2395728"/>
            <a:ext cx="484632" cy="484632"/>
          </a:xfrm>
          <a:prstGeom prst="ellipse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23744" y="2532888"/>
            <a:ext cx="4846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7128" y="3154680"/>
            <a:ext cx="1188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3454"/>
                </a:solidFill>
                <a:latin typeface="Aptos"/>
              </a:defRPr>
            </a:pPr>
            <a:r>
              <a:t>CAMERA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5092" y="3611880"/>
            <a:ext cx="1532792" cy="378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0">
                <a:solidFill>
                  <a:srgbClr val="374452"/>
                </a:solidFill>
                <a:latin typeface="Aptos"/>
              </a:defRPr>
            </a:pPr>
            <a:r>
              <a:rPr dirty="0"/>
              <a:t>Face is captured using the</a:t>
            </a:r>
            <a:endParaRPr lang="en-US" dirty="0"/>
          </a:p>
          <a:p>
            <a:pPr algn="ctr">
              <a:defRPr sz="930">
                <a:solidFill>
                  <a:srgbClr val="374452"/>
                </a:solidFill>
                <a:latin typeface="Aptos"/>
              </a:defRPr>
            </a:pPr>
            <a:r>
              <a:rPr dirty="0"/>
              <a:t> camera</a:t>
            </a:r>
          </a:p>
        </p:txBody>
      </p:sp>
      <p:sp>
        <p:nvSpPr>
          <p:cNvPr id="16" name="Chevron 15"/>
          <p:cNvSpPr/>
          <p:nvPr/>
        </p:nvSpPr>
        <p:spPr>
          <a:xfrm>
            <a:off x="3502152" y="3182112"/>
            <a:ext cx="182880" cy="274320"/>
          </a:xfrm>
          <a:prstGeom prst="chevron">
            <a:avLst/>
          </a:prstGeom>
          <a:solidFill>
            <a:srgbClr val="B8CA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703320" y="2148840"/>
            <a:ext cx="14173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169663" y="2395728"/>
            <a:ext cx="484632" cy="484632"/>
          </a:xfrm>
          <a:prstGeom prst="ellipse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69663" y="2532888"/>
            <a:ext cx="4846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3048" y="3154680"/>
            <a:ext cx="1188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3454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9633" y="3611880"/>
            <a:ext cx="1295546" cy="378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0">
                <a:solidFill>
                  <a:srgbClr val="374452"/>
                </a:solidFill>
                <a:latin typeface="Aptos"/>
              </a:defRPr>
            </a:pPr>
            <a:r>
              <a:rPr dirty="0" err="1"/>
              <a:t>DeepFace</a:t>
            </a:r>
            <a:r>
              <a:rPr dirty="0"/>
              <a:t> verifies the</a:t>
            </a:r>
            <a:endParaRPr lang="en-US" dirty="0"/>
          </a:p>
          <a:p>
            <a:pPr algn="ctr">
              <a:defRPr sz="930">
                <a:solidFill>
                  <a:srgbClr val="374452"/>
                </a:solidFill>
                <a:latin typeface="Aptos"/>
              </a:defRPr>
            </a:pPr>
            <a:r>
              <a:rPr dirty="0"/>
              <a:t> registered face</a:t>
            </a:r>
          </a:p>
        </p:txBody>
      </p:sp>
      <p:sp>
        <p:nvSpPr>
          <p:cNvPr id="22" name="Chevron 21"/>
          <p:cNvSpPr/>
          <p:nvPr/>
        </p:nvSpPr>
        <p:spPr>
          <a:xfrm>
            <a:off x="5148072" y="3182112"/>
            <a:ext cx="182880" cy="274320"/>
          </a:xfrm>
          <a:prstGeom prst="chevron">
            <a:avLst/>
          </a:prstGeom>
          <a:solidFill>
            <a:srgbClr val="B8CA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349240" y="2148840"/>
            <a:ext cx="14173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815583" y="2395728"/>
            <a:ext cx="484632" cy="484632"/>
          </a:xfrm>
          <a:prstGeom prst="ellipse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15583" y="2532888"/>
            <a:ext cx="4846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8968" y="3154680"/>
            <a:ext cx="1188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3454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5592" y="3611880"/>
            <a:ext cx="1255472" cy="378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0">
                <a:solidFill>
                  <a:srgbClr val="374452"/>
                </a:solidFill>
                <a:latin typeface="Aptos"/>
              </a:defRPr>
            </a:pPr>
            <a:r>
              <a:rPr dirty="0"/>
              <a:t>Attendance record is</a:t>
            </a:r>
            <a:endParaRPr lang="en-US" dirty="0"/>
          </a:p>
          <a:p>
            <a:pPr algn="ctr">
              <a:defRPr sz="930">
                <a:solidFill>
                  <a:srgbClr val="374452"/>
                </a:solidFill>
                <a:latin typeface="Aptos"/>
              </a:defRPr>
            </a:pPr>
            <a:r>
              <a:rPr dirty="0"/>
              <a:t> created</a:t>
            </a:r>
            <a:r>
              <a:rPr lang="en-US" dirty="0"/>
              <a:t> </a:t>
            </a:r>
            <a:r>
              <a:rPr dirty="0"/>
              <a:t> with date</a:t>
            </a:r>
          </a:p>
        </p:txBody>
      </p:sp>
      <p:sp>
        <p:nvSpPr>
          <p:cNvPr id="28" name="Chevron 27"/>
          <p:cNvSpPr/>
          <p:nvPr/>
        </p:nvSpPr>
        <p:spPr>
          <a:xfrm>
            <a:off x="6793992" y="3182112"/>
            <a:ext cx="182880" cy="274320"/>
          </a:xfrm>
          <a:prstGeom prst="chevron">
            <a:avLst/>
          </a:prstGeom>
          <a:solidFill>
            <a:srgbClr val="B8CA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995160" y="2148840"/>
            <a:ext cx="14173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461504" y="2395728"/>
            <a:ext cx="484632" cy="484632"/>
          </a:xfrm>
          <a:prstGeom prst="ellipse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61504" y="2532888"/>
            <a:ext cx="4846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4888" y="3154680"/>
            <a:ext cx="1188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3454"/>
                </a:solidFill>
                <a:latin typeface="Aptos"/>
              </a:defRPr>
            </a:pPr>
            <a:r>
              <a:t>PENDING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9227" y="3611880"/>
            <a:ext cx="1560042" cy="378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0">
                <a:solidFill>
                  <a:srgbClr val="374452"/>
                </a:solidFill>
                <a:latin typeface="Aptos"/>
              </a:defRPr>
            </a:pPr>
            <a:r>
              <a:rPr dirty="0"/>
              <a:t>Record receives PENDING </a:t>
            </a:r>
            <a:endParaRPr lang="en-US" dirty="0"/>
          </a:p>
          <a:p>
            <a:pPr algn="ctr">
              <a:defRPr sz="930">
                <a:solidFill>
                  <a:srgbClr val="374452"/>
                </a:solidFill>
                <a:latin typeface="Aptos"/>
              </a:defRPr>
            </a:pPr>
            <a:r>
              <a:rPr dirty="0"/>
              <a:t>status</a:t>
            </a:r>
          </a:p>
        </p:txBody>
      </p:sp>
      <p:sp>
        <p:nvSpPr>
          <p:cNvPr id="34" name="Chevron 33"/>
          <p:cNvSpPr/>
          <p:nvPr/>
        </p:nvSpPr>
        <p:spPr>
          <a:xfrm>
            <a:off x="8439912" y="3182112"/>
            <a:ext cx="182880" cy="274320"/>
          </a:xfrm>
          <a:prstGeom prst="chevron">
            <a:avLst/>
          </a:prstGeom>
          <a:solidFill>
            <a:srgbClr val="B8CA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641080" y="2148840"/>
            <a:ext cx="14173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107424" y="2395728"/>
            <a:ext cx="484632" cy="484632"/>
          </a:xfrm>
          <a:prstGeom prst="ellipse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07424" y="2532888"/>
            <a:ext cx="4846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50807" y="3154680"/>
            <a:ext cx="1188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3454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14226" y="3611880"/>
            <a:ext cx="1261884" cy="378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0">
                <a:solidFill>
                  <a:srgbClr val="374452"/>
                </a:solidFill>
                <a:latin typeface="Aptos"/>
              </a:defRPr>
            </a:pPr>
            <a:r>
              <a:rPr dirty="0"/>
              <a:t>Admin / </a:t>
            </a:r>
            <a:r>
              <a:rPr dirty="0" err="1"/>
              <a:t>Superadmin</a:t>
            </a:r>
            <a:r>
              <a:rPr dirty="0"/>
              <a:t> </a:t>
            </a:r>
            <a:endParaRPr lang="en-US" dirty="0"/>
          </a:p>
          <a:p>
            <a:pPr algn="ctr">
              <a:defRPr sz="930">
                <a:solidFill>
                  <a:srgbClr val="374452"/>
                </a:solidFill>
                <a:latin typeface="Aptos"/>
              </a:defRPr>
            </a:pPr>
            <a:r>
              <a:rPr lang="en-US" dirty="0"/>
              <a:t>R</a:t>
            </a:r>
            <a:r>
              <a:rPr dirty="0"/>
              <a:t>eviews</a:t>
            </a:r>
            <a:r>
              <a:rPr lang="en-US" dirty="0"/>
              <a:t> </a:t>
            </a:r>
            <a:r>
              <a:rPr dirty="0"/>
              <a:t> the record</a:t>
            </a:r>
          </a:p>
        </p:txBody>
      </p:sp>
      <p:sp>
        <p:nvSpPr>
          <p:cNvPr id="40" name="Chevron 39"/>
          <p:cNvSpPr/>
          <p:nvPr/>
        </p:nvSpPr>
        <p:spPr>
          <a:xfrm>
            <a:off x="10085832" y="3182112"/>
            <a:ext cx="182880" cy="274320"/>
          </a:xfrm>
          <a:prstGeom prst="chevron">
            <a:avLst/>
          </a:prstGeom>
          <a:solidFill>
            <a:srgbClr val="B8CA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287000" y="2148840"/>
            <a:ext cx="14173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0753344" y="2395728"/>
            <a:ext cx="484632" cy="484632"/>
          </a:xfrm>
          <a:prstGeom prst="ellipse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753344" y="2532888"/>
            <a:ext cx="4846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96728" y="3154680"/>
            <a:ext cx="1188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3454"/>
                </a:solidFill>
                <a:latin typeface="Aptos"/>
              </a:defRPr>
            </a:pPr>
            <a:r>
              <a:t>FINAL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63164" y="3611880"/>
            <a:ext cx="1455848" cy="378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0">
                <a:solidFill>
                  <a:srgbClr val="374452"/>
                </a:solidFill>
                <a:latin typeface="Aptos"/>
              </a:defRPr>
            </a:pPr>
            <a:r>
              <a:rPr dirty="0"/>
              <a:t>APPROVED or REJECTED</a:t>
            </a:r>
            <a:endParaRPr lang="en-US" dirty="0"/>
          </a:p>
          <a:p>
            <a:pPr algn="ctr">
              <a:defRPr sz="930">
                <a:solidFill>
                  <a:srgbClr val="374452"/>
                </a:solidFill>
                <a:latin typeface="Aptos"/>
              </a:defRPr>
            </a:pPr>
            <a:r>
              <a:rPr dirty="0"/>
              <a:t> status is stored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057400" y="5074920"/>
            <a:ext cx="8092440" cy="658368"/>
          </a:xfrm>
          <a:prstGeom prst="roundRect">
            <a:avLst/>
          </a:prstGeom>
          <a:solidFill>
            <a:srgbClr val="E7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286000" y="5257800"/>
            <a:ext cx="7635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3454"/>
                </a:solidFill>
                <a:latin typeface="Aptos"/>
              </a:defRPr>
            </a:pPr>
            <a:r>
              <a:t>PENDING   →   APPROVED   /   REJECTED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6291072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F6C7A"/>
                </a:solidFill>
                <a:latin typeface="Aptos"/>
              </a:defRPr>
            </a:pPr>
            <a:r>
              <a:t>Student Attendance Management System  •  Page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9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454"/>
                </a:solidFill>
                <a:latin typeface="Aptos Display"/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43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C7A"/>
                </a:solidFill>
                <a:latin typeface="Aptos"/>
              </a:defRPr>
            </a:pPr>
            <a:r>
              <a:t>MySQL stores student information, attendance records and authentication-related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6576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3657600" cy="502920"/>
          </a:xfrm>
          <a:prstGeom prst="rect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002536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STUDENT /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560320"/>
            <a:ext cx="3255264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74452"/>
                </a:solidFill>
                <a:latin typeface="Aptos"/>
              </a:defRPr>
            </a:pPr>
            <a:r>
              <a:t>• Username &amp; password</a:t>
            </a:r>
          </a:p>
          <a:p>
            <a:pPr>
              <a:spcAft>
                <a:spcPts val="700"/>
              </a:spcAft>
              <a:defRPr sz="1150">
                <a:solidFill>
                  <a:srgbClr val="374452"/>
                </a:solidFill>
                <a:latin typeface="Aptos"/>
              </a:defRPr>
            </a:pPr>
            <a:r>
              <a:t>• First name &amp; last name</a:t>
            </a:r>
          </a:p>
          <a:p>
            <a:pPr>
              <a:spcAft>
                <a:spcPts val="700"/>
              </a:spcAft>
              <a:defRPr sz="1150">
                <a:solidFill>
                  <a:srgbClr val="374452"/>
                </a:solidFill>
                <a:latin typeface="Aptos"/>
              </a:defRPr>
            </a:pPr>
            <a:r>
              <a:t>• Email address</a:t>
            </a:r>
          </a:p>
          <a:p>
            <a:pPr>
              <a:spcAft>
                <a:spcPts val="700"/>
              </a:spcAft>
              <a:defRPr sz="1150">
                <a:solidFill>
                  <a:srgbClr val="374452"/>
                </a:solidFill>
                <a:latin typeface="Aptos"/>
              </a:defRPr>
            </a:pPr>
            <a:r>
              <a:t>• Role</a:t>
            </a:r>
          </a:p>
          <a:p>
            <a:pPr>
              <a:spcAft>
                <a:spcPts val="700"/>
              </a:spcAft>
              <a:defRPr sz="1150">
                <a:solidFill>
                  <a:srgbClr val="374452"/>
                </a:solidFill>
                <a:latin typeface="Aptos"/>
              </a:defRPr>
            </a:pPr>
            <a:r>
              <a:t>• Approval status</a:t>
            </a:r>
          </a:p>
          <a:p>
            <a:pPr>
              <a:spcAft>
                <a:spcPts val="700"/>
              </a:spcAft>
              <a:defRPr sz="1150">
                <a:solidFill>
                  <a:srgbClr val="374452"/>
                </a:solidFill>
                <a:latin typeface="Aptos"/>
              </a:defRPr>
            </a:pPr>
            <a:r>
              <a:t>• Registered face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874519"/>
            <a:ext cx="36576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26679" y="1874519"/>
            <a:ext cx="3657600" cy="502920"/>
          </a:xfrm>
          <a:prstGeom prst="rect">
            <a:avLst/>
          </a:prstGeom>
          <a:solidFill>
            <a:srgbClr val="389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26679" y="2002536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2560320"/>
            <a:ext cx="3255264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74452"/>
                </a:solidFill>
                <a:latin typeface="Aptos"/>
              </a:defRPr>
            </a:pPr>
            <a:r>
              <a:t>• Student reference</a:t>
            </a:r>
          </a:p>
          <a:p>
            <a:pPr>
              <a:spcAft>
                <a:spcPts val="700"/>
              </a:spcAft>
              <a:defRPr sz="1150">
                <a:solidFill>
                  <a:srgbClr val="374452"/>
                </a:solidFill>
                <a:latin typeface="Aptos"/>
              </a:defRPr>
            </a:pPr>
            <a:r>
              <a:t>• Attendance date</a:t>
            </a:r>
          </a:p>
          <a:p>
            <a:pPr>
              <a:spcAft>
                <a:spcPts val="700"/>
              </a:spcAft>
              <a:defRPr sz="1150">
                <a:solidFill>
                  <a:srgbClr val="374452"/>
                </a:solidFill>
                <a:latin typeface="Aptos"/>
              </a:defRPr>
            </a:pPr>
            <a:r>
              <a:t>• Status</a:t>
            </a:r>
          </a:p>
          <a:p>
            <a:pPr>
              <a:spcAft>
                <a:spcPts val="700"/>
              </a:spcAft>
              <a:defRPr sz="1150">
                <a:solidFill>
                  <a:srgbClr val="374452"/>
                </a:solidFill>
                <a:latin typeface="Aptos"/>
              </a:defRPr>
            </a:pPr>
            <a:r>
              <a:t>• PENDING</a:t>
            </a:r>
          </a:p>
          <a:p>
            <a:pPr>
              <a:spcAft>
                <a:spcPts val="700"/>
              </a:spcAft>
              <a:defRPr sz="1150">
                <a:solidFill>
                  <a:srgbClr val="374452"/>
                </a:solidFill>
                <a:latin typeface="Aptos"/>
              </a:defRPr>
            </a:pPr>
            <a:r>
              <a:t>• APPROVED / REJECTED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3218688"/>
            <a:ext cx="3291840" cy="54864"/>
          </a:xfrm>
          <a:prstGeom prst="rect">
            <a:avLst/>
          </a:prstGeom>
          <a:solidFill>
            <a:srgbClr val="B4C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hevron 13"/>
          <p:cNvSpPr/>
          <p:nvPr/>
        </p:nvSpPr>
        <p:spPr>
          <a:xfrm>
            <a:off x="7424927" y="3063240"/>
            <a:ext cx="320040" cy="365760"/>
          </a:xfrm>
          <a:prstGeom prst="chevron">
            <a:avLst/>
          </a:prstGeom>
          <a:solidFill>
            <a:srgbClr val="2B7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60" y="269748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3454"/>
                </a:solidFill>
                <a:latin typeface="Aptos"/>
              </a:defRPr>
            </a:pPr>
            <a:r>
              <a:t>1  →  MANY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5303520"/>
            <a:ext cx="8366760" cy="640080"/>
          </a:xfrm>
          <a:prstGeom prst="roundRect">
            <a:avLst/>
          </a:prstGeom>
          <a:solidFill>
            <a:srgbClr val="E7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48840" y="5477256"/>
            <a:ext cx="7909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3454"/>
                </a:solidFill>
                <a:latin typeface="Aptos"/>
              </a:defRPr>
            </a:pPr>
            <a:r>
              <a:t>Django Authentication  •  Users  •  Groups  •  Permissions  •  Sessions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6291072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F6C7A"/>
                </a:solidFill>
                <a:latin typeface="Aptos"/>
              </a:defRPr>
            </a:pPr>
            <a:r>
              <a:t>Student Attendance Management System  •  Page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70823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80019"/>
                </a:solidFill>
                <a:latin typeface="Aptos Display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USER INTERFACE — REAL SYSTEM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5F64"/>
                </a:solidFill>
                <a:latin typeface="Aptos"/>
              </a:defRPr>
            </a:pPr>
            <a:r>
              <a:t>Actual project screenshots showing the public landing page, login and student registration.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5F64"/>
                </a:solidFill>
                <a:latin typeface="Aptos"/>
              </a:defRPr>
            </a:pPr>
            <a:r>
              <a:t>Student Attendance Management System  •  Page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566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D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Base Page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527048"/>
            <a:ext cx="3346704" cy="39593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2998" y="5550408"/>
            <a:ext cx="200888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480019"/>
                </a:solidFill>
                <a:latin typeface="Aptos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Figure 13.1  Base / Home Page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417320"/>
            <a:ext cx="3566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D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OG IN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1527048"/>
            <a:ext cx="3346704" cy="39593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18225" y="5550408"/>
            <a:ext cx="1561646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480019"/>
                </a:solidFill>
                <a:latin typeface="Aptos"/>
              </a:defRPr>
            </a:pPr>
            <a:r>
              <a:rPr>
                <a:solidFill>
                  <a:schemeClr val="accent1">
                    <a:lumMod val="50000"/>
                  </a:schemeClr>
                </a:solidFill>
              </a:rPr>
              <a:t>Figure 13.2  Login Page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7575" y="1417320"/>
            <a:ext cx="35661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D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IGN UP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3" y="1527048"/>
            <a:ext cx="3346704" cy="39593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74160" y="5550408"/>
            <a:ext cx="249299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480019"/>
                </a:solidFill>
                <a:latin typeface="Aptos"/>
              </a:defRPr>
            </a:pPr>
            <a:r>
              <a:rPr>
                <a:solidFill>
                  <a:schemeClr val="accent1">
                    <a:lumMod val="50000"/>
                  </a:schemeClr>
                </a:solidFill>
              </a:rPr>
              <a:t>Figure 13.3  Student Registration Page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81522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80019"/>
                </a:solidFill>
                <a:latin typeface="Aptos Display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ADMINISTRATION DASHBOARDS — REAL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5F64"/>
                </a:solidFill>
                <a:latin typeface="Aptos"/>
              </a:defRPr>
            </a:pPr>
            <a:r>
              <a:t>Actual project screenshots showing the Admin and Superadmin dashboards.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95F64"/>
                </a:solidFill>
                <a:latin typeface="Aptos"/>
              </a:defRPr>
            </a:pPr>
            <a:r>
              <a:t>Student Attendance Management System  •  Page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D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dmin Dashboard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527048"/>
            <a:ext cx="5221224" cy="39593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59184" y="5550408"/>
            <a:ext cx="2002471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480019"/>
                </a:solidFill>
                <a:latin typeface="Aptos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Figure 14.1  Admin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8192" y="141732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D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uperadmin dashboard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27048"/>
            <a:ext cx="5221224" cy="39593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50966" y="5550408"/>
            <a:ext cx="235513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480019"/>
                </a:solidFill>
                <a:latin typeface="Aptos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Figure 14.2  </a:t>
            </a:r>
            <a:r>
              <a:rPr dirty="0" err="1">
                <a:solidFill>
                  <a:schemeClr val="accent1">
                    <a:lumMod val="50000"/>
                  </a:schemeClr>
                </a:solidFill>
              </a:rPr>
              <a:t>Superadmin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6080760"/>
            <a:ext cx="4480560" cy="365760"/>
          </a:xfrm>
          <a:prstGeom prst="roundRect">
            <a:avLst/>
          </a:prstGeom>
          <a:solidFill>
            <a:srgbClr val="F8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67360" y="6153912"/>
            <a:ext cx="204895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8E002A"/>
                </a:solidFill>
                <a:latin typeface="Aptos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ADMIN  •  Attendance Approvals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6080760"/>
            <a:ext cx="4480560" cy="365760"/>
          </a:xfrm>
          <a:prstGeom prst="roundRect">
            <a:avLst/>
          </a:prstGeom>
          <a:solidFill>
            <a:srgbClr val="FFF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54681" y="6153912"/>
            <a:ext cx="302999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8E002A"/>
                </a:solidFill>
                <a:latin typeface="Aptos"/>
              </a:defRPr>
            </a:pPr>
            <a:r>
              <a:rPr>
                <a:solidFill>
                  <a:schemeClr val="accent1">
                    <a:lumMod val="50000"/>
                  </a:schemeClr>
                </a:solidFill>
              </a:rPr>
              <a:t>SUPERADMIN  •  Student + Attendance Approvals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610019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6C1623"/>
                </a:solidFill>
                <a:latin typeface="Aptos Display"/>
              </a:defRPr>
            </a:pPr>
            <a:r>
              <a:rPr>
                <a:solidFill>
                  <a:schemeClr val="accent1">
                    <a:lumMod val="50000"/>
                  </a:schemeClr>
                </a:solidFill>
              </a:rPr>
              <a:t>STUDENT DASHBOARD &amp;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ptos"/>
              </a:defRPr>
            </a:pPr>
            <a:r>
              <a:t>Real project screens showing student access and attendance history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" y="1344168"/>
            <a:ext cx="5495544" cy="4690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tudent Dashboard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34924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77175" y="5687568"/>
            <a:ext cx="218361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C1623"/>
                </a:solidFill>
                <a:latin typeface="Aptos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Figure 15.1  Student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344168"/>
            <a:ext cx="5495544" cy="4690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tudent attendance page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5349240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1157" y="5687568"/>
            <a:ext cx="271420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C1623"/>
                </a:solidFill>
                <a:latin typeface="Aptos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Figure 15.2  Student Attendance 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6080760"/>
            <a:ext cx="8092440" cy="43891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7696" y="6153912"/>
            <a:ext cx="4871847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STUDENT LOGIN  →  DASHBOARD  →  SUBMIT ATTENDANCE  →  VIEW RECORDS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635488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6C1623"/>
                </a:solidFill>
                <a:latin typeface="Aptos Display"/>
              </a:defRPr>
            </a:pPr>
            <a:r>
              <a:rPr>
                <a:solidFill>
                  <a:schemeClr val="accent1">
                    <a:lumMod val="50000"/>
                  </a:schemeClr>
                </a:solidFill>
              </a:rPr>
              <a:t>FACE VERIFICATION &amp; STUDENT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ptos"/>
              </a:defRPr>
            </a:pPr>
            <a:r>
              <a:t>Real project screens for camera-based verification and student profile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" y="1344168"/>
            <a:ext cx="5495544" cy="4690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tudent attendance submittion page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34924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35786" y="5687568"/>
            <a:ext cx="366638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C1623"/>
                </a:solidFill>
                <a:latin typeface="Aptos"/>
              </a:defRPr>
            </a:pPr>
            <a:r>
              <a:rPr>
                <a:solidFill>
                  <a:schemeClr val="accent1">
                    <a:lumMod val="50000"/>
                  </a:schemeClr>
                </a:solidFill>
              </a:rPr>
              <a:t>Figure 16.1  Face Verification / Attendance Submission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344168"/>
            <a:ext cx="5495544" cy="4690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tudent profile page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5349240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89923" y="5687568"/>
            <a:ext cx="189667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C1623"/>
                </a:solidFill>
                <a:latin typeface="Aptos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Figure 16.2  Student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6080760"/>
            <a:ext cx="8458200" cy="43891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57400" y="6153912"/>
            <a:ext cx="8092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CAMERA CAPTURE  →  DEEPFACE VERIFICATION  →  ATTENDANCE RECORD  →  PROFILE STATUS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142801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6C1623"/>
                </a:solidFill>
                <a:latin typeface="Aptos Display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STUDENT USER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ptos"/>
              </a:defRPr>
            </a:pPr>
            <a:r>
              <a:t>Real project screen showing the student's account and profile information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6995160" cy="4434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tudent User profile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536192"/>
            <a:ext cx="6757416" cy="406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38845" y="5596128"/>
            <a:ext cx="270618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C1623"/>
                </a:solidFill>
                <a:latin typeface="Aptos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Figure 17.1  Student User Profile Screen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481328"/>
            <a:ext cx="3703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56448" y="164592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C1623"/>
                </a:solidFill>
                <a:latin typeface="Aptos"/>
              </a:defRPr>
            </a:pPr>
            <a:r>
              <a:t>PERSONAL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1965960"/>
            <a:ext cx="350608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2D2D"/>
                </a:solidFill>
                <a:latin typeface="Aptos"/>
              </a:defRPr>
            </a:pPr>
            <a:r>
              <a:rPr dirty="0"/>
              <a:t>Student account information is displayed in one profile</a:t>
            </a:r>
            <a:endParaRPr lang="en-US" dirty="0"/>
          </a:p>
          <a:p>
            <a:pPr>
              <a:defRPr sz="1100">
                <a:solidFill>
                  <a:srgbClr val="2D2D2D"/>
                </a:solidFill>
                <a:latin typeface="Aptos"/>
              </a:defRPr>
            </a:pPr>
            <a:r>
              <a:rPr dirty="0"/>
              <a:t> 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880360"/>
            <a:ext cx="3703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56448" y="3044952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C1623"/>
                </a:solidFill>
                <a:latin typeface="Aptos"/>
              </a:defRPr>
            </a:pPr>
            <a:r>
              <a:t>ACCOUNT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3364991"/>
            <a:ext cx="330250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2D2D"/>
                </a:solidFill>
                <a:latin typeface="Aptos"/>
              </a:defRPr>
            </a:pPr>
            <a:r>
              <a:rPr dirty="0"/>
              <a:t>Approval status and registered student information </a:t>
            </a:r>
            <a:endParaRPr lang="en-US" dirty="0"/>
          </a:p>
          <a:p>
            <a:pPr>
              <a:defRPr sz="1100">
                <a:solidFill>
                  <a:srgbClr val="2D2D2D"/>
                </a:solidFill>
                <a:latin typeface="Aptos"/>
              </a:defRPr>
            </a:pPr>
            <a:r>
              <a:rPr dirty="0"/>
              <a:t>can be checked.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279392"/>
            <a:ext cx="3703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56448" y="4443983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C1623"/>
                </a:solidFill>
                <a:latin typeface="Aptos"/>
              </a:defRPr>
            </a:pPr>
            <a:r>
              <a:t>PROFILE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4764024"/>
            <a:ext cx="318211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2D2D"/>
                </a:solidFill>
                <a:latin typeface="Aptos"/>
              </a:defRPr>
            </a:pPr>
            <a:r>
              <a:t>The student can review their account details after login.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5596128"/>
            <a:ext cx="3703320" cy="50292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65008" y="5687568"/>
            <a:ext cx="34015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SECURE • ROLE-BASED • PROFILE ACCESS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879495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6C1623"/>
                </a:solidFill>
                <a:latin typeface="Aptos Display"/>
              </a:defRPr>
            </a:pPr>
            <a:r>
              <a:rPr>
                <a:solidFill>
                  <a:schemeClr val="tx2">
                    <a:lumMod val="50000"/>
                  </a:schemeClr>
                </a:solidFill>
              </a:rPr>
              <a:t>ATTENDANCE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ptos"/>
              </a:defRPr>
            </a:pPr>
            <a:r>
              <a:t>Complete process from student registration to approved attendance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737360" cy="3246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78992" y="2057400"/>
            <a:ext cx="585216" cy="585216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185416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337" y="2816352"/>
            <a:ext cx="93852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C1623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3383280"/>
            <a:ext cx="1481328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>
                <a:solidFill>
                  <a:srgbClr val="2D2D2D"/>
                </a:solidFill>
                <a:latin typeface="Aptos"/>
              </a:defRPr>
            </a:pPr>
            <a:r>
              <a:t>Student enters personal details</a:t>
            </a:r>
            <a:br/>
            <a:r>
              <a:t>and uploads face 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7168" y="1828800"/>
            <a:ext cx="1737360" cy="3246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063240" y="2057400"/>
            <a:ext cx="585216" cy="585216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81528" y="2185416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859" y="2816352"/>
            <a:ext cx="99597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C1623"/>
                </a:solidFill>
                <a:latin typeface="Aptos"/>
              </a:defRPr>
            </a:pPr>
            <a:r>
              <a:rPr>
                <a:solidFill>
                  <a:schemeClr val="tx2">
                    <a:lumMod val="50000"/>
                  </a:schemeClr>
                </a:solidFill>
              </a:rPr>
              <a:t>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3383280"/>
            <a:ext cx="1481328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>
                <a:solidFill>
                  <a:srgbClr val="2D2D2D"/>
                </a:solidFill>
                <a:latin typeface="Aptos"/>
              </a:defRPr>
            </a:pPr>
            <a:r>
              <a:t>Superadmin reviews</a:t>
            </a:r>
            <a:br/>
            <a:r>
              <a:t>and approves account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71416" y="1828800"/>
            <a:ext cx="1737360" cy="3246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047488" y="2057400"/>
            <a:ext cx="585216" cy="585216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65776" y="2185416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0419" y="2816352"/>
            <a:ext cx="67935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C1623"/>
                </a:solidFill>
                <a:latin typeface="Aptos"/>
              </a:defRPr>
            </a:pPr>
            <a:r>
              <a:rPr>
                <a:solidFill>
                  <a:schemeClr val="tx2">
                    <a:lumMod val="50000"/>
                  </a:schemeClr>
                </a:solidFill>
              </a:rPr>
              <a:t>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3383280"/>
            <a:ext cx="1481328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>
                <a:solidFill>
                  <a:srgbClr val="2D2D2D"/>
                </a:solidFill>
                <a:latin typeface="Aptos"/>
              </a:defRPr>
            </a:pPr>
            <a:r>
              <a:t>Approved student</a:t>
            </a:r>
            <a:br/>
            <a:r>
              <a:t>logs into the 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55664" y="1828800"/>
            <a:ext cx="1737360" cy="3246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031736" y="2057400"/>
            <a:ext cx="585216" cy="585216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50024" y="2185416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5467" y="2816352"/>
            <a:ext cx="115775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C1623"/>
                </a:solidFill>
                <a:latin typeface="Aptos"/>
              </a:defRPr>
            </a:pPr>
            <a:r>
              <a:rPr>
                <a:solidFill>
                  <a:schemeClr val="tx2">
                    <a:lumMod val="50000"/>
                  </a:schemeClr>
                </a:solidFill>
              </a:rPr>
              <a:t>VERIFY FACE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3383280"/>
            <a:ext cx="1481328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>
                <a:solidFill>
                  <a:srgbClr val="2D2D2D"/>
                </a:solidFill>
                <a:latin typeface="Aptos"/>
              </a:defRPr>
            </a:pPr>
            <a:r>
              <a:t>Camera captures face</a:t>
            </a:r>
            <a:br/>
            <a:r>
              <a:t>and DeepFace verifies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39912" y="1828800"/>
            <a:ext cx="1508760" cy="3246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901684" y="2057400"/>
            <a:ext cx="585216" cy="585216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19972" y="2185416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85888" y="2816352"/>
            <a:ext cx="121680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C1623"/>
                </a:solidFill>
                <a:latin typeface="Aptos"/>
              </a:defRPr>
            </a:pPr>
            <a:r>
              <a:rPr>
                <a:solidFill>
                  <a:schemeClr val="tx2">
                    <a:lumMod val="50000"/>
                  </a:schemeClr>
                </a:solidFill>
              </a:rPr>
              <a:t>ATTENDANCE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7928" y="3383280"/>
            <a:ext cx="1252728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>
                <a:solidFill>
                  <a:srgbClr val="2D2D2D"/>
                </a:solidFill>
                <a:latin typeface="Aptos"/>
              </a:defRPr>
            </a:pPr>
            <a:r>
              <a:t>Successful verification</a:t>
            </a:r>
            <a:br/>
            <a:r>
              <a:t>creates PENDING record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1828800"/>
            <a:ext cx="1600200" cy="3246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611612" y="2057400"/>
            <a:ext cx="585216" cy="585216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29900" y="2185416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5563" y="2816352"/>
            <a:ext cx="95731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C1623"/>
                </a:solidFill>
                <a:latin typeface="Aptos"/>
              </a:defRPr>
            </a:pPr>
            <a:r>
              <a:rPr>
                <a:solidFill>
                  <a:schemeClr val="tx2">
                    <a:lumMod val="50000"/>
                  </a:schemeClr>
                </a:solidFill>
              </a:rPr>
              <a:t>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32136" y="3383280"/>
            <a:ext cx="1344168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50">
                <a:solidFill>
                  <a:srgbClr val="2D2D2D"/>
                </a:solidFill>
                <a:latin typeface="Aptos"/>
              </a:defRPr>
            </a:pPr>
            <a:r>
              <a:t>Admin/Superadmin approves</a:t>
            </a:r>
            <a:br/>
            <a:r>
              <a:t>or rejects attendance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258568" y="3456432"/>
            <a:ext cx="210312" cy="0"/>
          </a:xfrm>
          <a:prstGeom prst="line">
            <a:avLst/>
          </a:prstGeom>
          <a:ln w="27940">
            <a:solidFill>
              <a:srgbClr val="BE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242816" y="3456432"/>
            <a:ext cx="210312" cy="0"/>
          </a:xfrm>
          <a:prstGeom prst="line">
            <a:avLst/>
          </a:prstGeom>
          <a:ln w="27940">
            <a:solidFill>
              <a:srgbClr val="BE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227063" y="3456432"/>
            <a:ext cx="210313" cy="0"/>
          </a:xfrm>
          <a:prstGeom prst="line">
            <a:avLst/>
          </a:prstGeom>
          <a:ln w="27940">
            <a:solidFill>
              <a:srgbClr val="BE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211311" y="3456432"/>
            <a:ext cx="210313" cy="0"/>
          </a:xfrm>
          <a:prstGeom prst="line">
            <a:avLst/>
          </a:prstGeom>
          <a:ln w="27940">
            <a:solidFill>
              <a:srgbClr val="BE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966960" y="3456432"/>
            <a:ext cx="118872" cy="0"/>
          </a:xfrm>
          <a:prstGeom prst="line">
            <a:avLst/>
          </a:prstGeom>
          <a:ln w="27940">
            <a:solidFill>
              <a:srgbClr val="BE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874519" y="5532120"/>
            <a:ext cx="8503920" cy="6858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084831" y="5650992"/>
            <a:ext cx="8092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APPROVED  →  ATTENDANCE STATUS = APPROVED  →  EMAIL NOTIFICATION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787593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6C1623"/>
                </a:solidFill>
                <a:latin typeface="Aptos Display"/>
              </a:defRPr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SYSTEM TESTING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ptos"/>
              </a:defRPr>
            </a:pPr>
            <a:r>
              <a:t>Functional testing of the major Student Attendance Management System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2148840" cy="65836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609344"/>
            <a:ext cx="20025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TEST AREA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481328"/>
            <a:ext cx="3977639" cy="65836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16352" y="1609344"/>
            <a:ext cx="383133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TEST CONDITION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0840" y="1481328"/>
            <a:ext cx="3063240" cy="65836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93992" y="1609344"/>
            <a:ext cx="29169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84080" y="1481328"/>
            <a:ext cx="1828800" cy="65836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57232" y="1609344"/>
            <a:ext cx="16824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139696"/>
            <a:ext cx="21488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2231136"/>
            <a:ext cx="200253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Aptos"/>
              </a:defRPr>
            </a:pPr>
            <a:r>
              <a:t>Registration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139696"/>
            <a:ext cx="3977639" cy="658368"/>
          </a:xfrm>
          <a:prstGeom prst="rect">
            <a:avLst/>
          </a:prstGeom>
          <a:solidFill>
            <a:srgbClr val="FFFFFF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16352" y="2231136"/>
            <a:ext cx="38313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0">
                <a:solidFill>
                  <a:srgbClr val="2D2D2D"/>
                </a:solidFill>
                <a:latin typeface="Aptos"/>
              </a:defRPr>
            </a:pPr>
            <a:r>
              <a:t>Student submits details and face image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2139696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93992" y="2231136"/>
            <a:ext cx="291693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0">
                <a:solidFill>
                  <a:srgbClr val="2D2D2D"/>
                </a:solidFill>
                <a:latin typeface="Aptos"/>
              </a:defRPr>
            </a:pPr>
            <a:r>
              <a:t>Account created and sent for approval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2139696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57232" y="2231136"/>
            <a:ext cx="16824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39764F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798064"/>
            <a:ext cx="2148840" cy="658368"/>
          </a:xfrm>
          <a:prstGeom prst="rect">
            <a:avLst/>
          </a:prstGeom>
          <a:solidFill>
            <a:srgbClr val="F4EFE9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" y="2889504"/>
            <a:ext cx="200253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2798064"/>
            <a:ext cx="3977639" cy="658368"/>
          </a:xfrm>
          <a:prstGeom prst="rect">
            <a:avLst/>
          </a:prstGeom>
          <a:solidFill>
            <a:srgbClr val="F4EFE9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16352" y="2889504"/>
            <a:ext cx="38313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0">
                <a:solidFill>
                  <a:srgbClr val="2D2D2D"/>
                </a:solidFill>
                <a:latin typeface="Aptos"/>
              </a:defRPr>
            </a:pPr>
            <a:r>
              <a:t>Valid approved student credentials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2798064"/>
            <a:ext cx="3063240" cy="658368"/>
          </a:xfrm>
          <a:prstGeom prst="rect">
            <a:avLst/>
          </a:prstGeom>
          <a:solidFill>
            <a:srgbClr val="F4EFE9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93992" y="2889504"/>
            <a:ext cx="291693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0">
                <a:solidFill>
                  <a:srgbClr val="2D2D2D"/>
                </a:solidFill>
                <a:latin typeface="Aptos"/>
              </a:defRPr>
            </a:pPr>
            <a:r>
              <a:t>Student dashboard opens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2798064"/>
            <a:ext cx="1828800" cy="658368"/>
          </a:xfrm>
          <a:prstGeom prst="rect">
            <a:avLst/>
          </a:prstGeom>
          <a:solidFill>
            <a:srgbClr val="F4EFE9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57232" y="2889504"/>
            <a:ext cx="16824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39764F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456432"/>
            <a:ext cx="21488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" y="3547872"/>
            <a:ext cx="200253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Aptos"/>
              </a:defRPr>
            </a:pPr>
            <a:r>
              <a:t>Face Verification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456432"/>
            <a:ext cx="3977639" cy="658368"/>
          </a:xfrm>
          <a:prstGeom prst="rect">
            <a:avLst/>
          </a:prstGeom>
          <a:solidFill>
            <a:srgbClr val="FFFFFF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816352" y="3547872"/>
            <a:ext cx="38313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0">
                <a:solidFill>
                  <a:srgbClr val="2D2D2D"/>
                </a:solidFill>
                <a:latin typeface="Aptos"/>
              </a:defRPr>
            </a:pPr>
            <a:r>
              <a:t>Camera captures registered student's face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3456432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93992" y="3547872"/>
            <a:ext cx="291693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0">
                <a:solidFill>
                  <a:srgbClr val="2D2D2D"/>
                </a:solidFill>
                <a:latin typeface="Aptos"/>
              </a:defRPr>
            </a:pPr>
            <a:r>
              <a:t>Face verified and attendance submitted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80" y="3456432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857232" y="3547872"/>
            <a:ext cx="16824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39764F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4114800"/>
            <a:ext cx="2148840" cy="658368"/>
          </a:xfrm>
          <a:prstGeom prst="rect">
            <a:avLst/>
          </a:prstGeom>
          <a:solidFill>
            <a:srgbClr val="F4EFE9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7512" y="4206240"/>
            <a:ext cx="200253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Aptos"/>
              </a:defRPr>
            </a:pPr>
            <a:r>
              <a:t>Attendance Record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4114800"/>
            <a:ext cx="3977639" cy="658368"/>
          </a:xfrm>
          <a:prstGeom prst="rect">
            <a:avLst/>
          </a:prstGeom>
          <a:solidFill>
            <a:srgbClr val="F4EFE9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16352" y="4206240"/>
            <a:ext cx="38313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0">
                <a:solidFill>
                  <a:srgbClr val="2D2D2D"/>
                </a:solidFill>
                <a:latin typeface="Aptos"/>
              </a:defRPr>
            </a:pPr>
            <a:r>
              <a:t>Successful verification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0840" y="4114800"/>
            <a:ext cx="3063240" cy="658368"/>
          </a:xfrm>
          <a:prstGeom prst="rect">
            <a:avLst/>
          </a:prstGeom>
          <a:solidFill>
            <a:srgbClr val="F4EFE9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93992" y="4206240"/>
            <a:ext cx="291693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0">
                <a:solidFill>
                  <a:srgbClr val="2D2D2D"/>
                </a:solidFill>
                <a:latin typeface="Aptos"/>
              </a:defRPr>
            </a:pPr>
            <a:r>
              <a:t>Date recorded with PENDING status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84080" y="4114800"/>
            <a:ext cx="1828800" cy="658368"/>
          </a:xfrm>
          <a:prstGeom prst="rect">
            <a:avLst/>
          </a:prstGeom>
          <a:solidFill>
            <a:srgbClr val="F4EFE9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57232" y="4206240"/>
            <a:ext cx="16824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39764F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4773168"/>
            <a:ext cx="21488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7512" y="4864607"/>
            <a:ext cx="200253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Aptos"/>
              </a:defRPr>
            </a:pPr>
            <a:r>
              <a:t>Approval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4773168"/>
            <a:ext cx="3977639" cy="658368"/>
          </a:xfrm>
          <a:prstGeom prst="rect">
            <a:avLst/>
          </a:prstGeom>
          <a:solidFill>
            <a:srgbClr val="FFFFFF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816352" y="4864607"/>
            <a:ext cx="38313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0">
                <a:solidFill>
                  <a:srgbClr val="2D2D2D"/>
                </a:solidFill>
                <a:latin typeface="Aptos"/>
              </a:defRPr>
            </a:pPr>
            <a:r>
              <a:t>Admin/Superadmin reviews record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4773168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793992" y="4864607"/>
            <a:ext cx="291693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0">
                <a:solidFill>
                  <a:srgbClr val="2D2D2D"/>
                </a:solidFill>
                <a:latin typeface="Aptos"/>
              </a:defRPr>
            </a:pPr>
            <a:r>
              <a:t>Record becomes APPROVED or REJECTED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84080" y="4773168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857232" y="4864607"/>
            <a:ext cx="16824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39764F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" y="5431536"/>
            <a:ext cx="2148840" cy="658368"/>
          </a:xfrm>
          <a:prstGeom prst="rect">
            <a:avLst/>
          </a:prstGeom>
          <a:solidFill>
            <a:srgbClr val="F4EFE9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7512" y="5522976"/>
            <a:ext cx="200253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Aptos"/>
              </a:defRPr>
            </a:pPr>
            <a:r>
              <a:t>Email Notification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0" y="5431536"/>
            <a:ext cx="3977639" cy="658368"/>
          </a:xfrm>
          <a:prstGeom prst="rect">
            <a:avLst/>
          </a:prstGeom>
          <a:solidFill>
            <a:srgbClr val="F4EFE9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816352" y="5522976"/>
            <a:ext cx="38313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0">
                <a:solidFill>
                  <a:srgbClr val="2D2D2D"/>
                </a:solidFill>
                <a:latin typeface="Aptos"/>
              </a:defRPr>
            </a:pPr>
            <a:r>
              <a:t>Attendance is approved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0840" y="5431536"/>
            <a:ext cx="3063240" cy="658368"/>
          </a:xfrm>
          <a:prstGeom prst="rect">
            <a:avLst/>
          </a:prstGeom>
          <a:solidFill>
            <a:srgbClr val="F4EFE9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793992" y="5522976"/>
            <a:ext cx="291693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0">
                <a:solidFill>
                  <a:srgbClr val="2D2D2D"/>
                </a:solidFill>
                <a:latin typeface="Aptos"/>
              </a:defRPr>
            </a:pPr>
            <a:r>
              <a:t>Student receives notification email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84080" y="5431536"/>
            <a:ext cx="1828800" cy="658368"/>
          </a:xfrm>
          <a:prstGeom prst="rect">
            <a:avLst/>
          </a:prstGeom>
          <a:solidFill>
            <a:srgbClr val="F4EFE9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857232" y="5522976"/>
            <a:ext cx="16824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39764F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4360" y="6089904"/>
            <a:ext cx="21488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67512" y="6181344"/>
            <a:ext cx="200253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Aptos"/>
              </a:defRPr>
            </a:pPr>
            <a:r>
              <a:t>Profile &amp; History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0" y="6089904"/>
            <a:ext cx="3977639" cy="658368"/>
          </a:xfrm>
          <a:prstGeom prst="rect">
            <a:avLst/>
          </a:prstGeom>
          <a:solidFill>
            <a:srgbClr val="FFFFFF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816352" y="6181344"/>
            <a:ext cx="383133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0">
                <a:solidFill>
                  <a:srgbClr val="2D2D2D"/>
                </a:solidFill>
                <a:latin typeface="Aptos"/>
              </a:defRPr>
            </a:pPr>
            <a:r>
              <a:t>Student opens profile/attendance pages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20840" y="6089904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793992" y="6181344"/>
            <a:ext cx="291693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0">
                <a:solidFill>
                  <a:srgbClr val="2D2D2D"/>
                </a:solidFill>
                <a:latin typeface="Aptos"/>
              </a:defRPr>
            </a:pPr>
            <a:r>
              <a:t>Correct account and attendance data shown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784080" y="6089904"/>
            <a:ext cx="18288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857232" y="6181344"/>
            <a:ext cx="16824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50" b="1">
                <a:solidFill>
                  <a:srgbClr val="39764F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86968" y="6502908"/>
            <a:ext cx="3383280" cy="3657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48363" y="6544715"/>
            <a:ext cx="316382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rPr dirty="0"/>
              <a:t>Coverage: Core workflows tested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407408" y="6493549"/>
            <a:ext cx="3383280" cy="3657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517136" y="6530994"/>
            <a:ext cx="316382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rPr dirty="0"/>
              <a:t>Result: All listed tests PASS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991856" y="6476134"/>
            <a:ext cx="3383280" cy="36576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101583" y="6513578"/>
            <a:ext cx="316382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rPr dirty="0"/>
              <a:t>Outcome: Attendance workflow operates as designed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6C1623"/>
                </a:solidFill>
                <a:latin typeface="Aptos Display"/>
              </a:defRPr>
            </a:pPr>
            <a: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ptos"/>
              </a:defRPr>
            </a:pPr>
            <a:r>
              <a:t>Summary of the implemented system and possible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349240" cy="4343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746184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6C1623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617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D2D2D"/>
                </a:solidFill>
                <a:latin typeface="Aptos"/>
              </a:defRPr>
            </a:pPr>
            <a:r>
              <a:t>• Automates student attendance using camera-based face verification.</a:t>
            </a:r>
          </a:p>
          <a:p>
            <a:pPr>
              <a:spcAft>
                <a:spcPts val="1200"/>
              </a:spcAft>
              <a:defRPr sz="1300">
                <a:solidFill>
                  <a:srgbClr val="2D2D2D"/>
                </a:solidFill>
                <a:latin typeface="Aptos"/>
              </a:defRPr>
            </a:pPr>
            <a:r>
              <a:t>• Uses Django with MySQL for secure web-based attendance management.</a:t>
            </a:r>
          </a:p>
          <a:p>
            <a:pPr>
              <a:spcAft>
                <a:spcPts val="1200"/>
              </a:spcAft>
              <a:defRPr sz="1300">
                <a:solidFill>
                  <a:srgbClr val="2D2D2D"/>
                </a:solidFill>
                <a:latin typeface="Aptos"/>
              </a:defRPr>
            </a:pPr>
            <a:r>
              <a:t>• Provides separate access for STUDENT, ADMIN and SUPERADMIN roles.</a:t>
            </a:r>
          </a:p>
          <a:p>
            <a:pPr>
              <a:spcAft>
                <a:spcPts val="1200"/>
              </a:spcAft>
              <a:defRPr sz="1300">
                <a:solidFill>
                  <a:srgbClr val="2D2D2D"/>
                </a:solidFill>
                <a:latin typeface="Aptos"/>
              </a:defRPr>
            </a:pPr>
            <a:r>
              <a:t>• Records attendance date and supports approval or rejection workflow.</a:t>
            </a:r>
          </a:p>
          <a:p>
            <a:pPr>
              <a:spcAft>
                <a:spcPts val="1200"/>
              </a:spcAft>
              <a:defRPr sz="1300">
                <a:solidFill>
                  <a:srgbClr val="2D2D2D"/>
                </a:solidFill>
                <a:latin typeface="Aptos"/>
              </a:defRPr>
            </a:pPr>
            <a:r>
              <a:t>• Provides attendance history, profile access and email notification.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349240" cy="4343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8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1905073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6C1623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4617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D2D2D"/>
                </a:solidFill>
                <a:latin typeface="Aptos"/>
              </a:defRPr>
            </a:pPr>
            <a:r>
              <a:t>• Add Excel/CSV attendance export.</a:t>
            </a:r>
          </a:p>
          <a:p>
            <a:pPr>
              <a:spcAft>
                <a:spcPts val="1200"/>
              </a:spcAft>
              <a:defRPr sz="1300">
                <a:solidFill>
                  <a:srgbClr val="2D2D2D"/>
                </a:solidFill>
                <a:latin typeface="Aptos"/>
              </a:defRPr>
            </a:pPr>
            <a:r>
              <a:t>• Support multiple classes, subjects and departments.</a:t>
            </a:r>
          </a:p>
          <a:p>
            <a:pPr>
              <a:spcAft>
                <a:spcPts val="1200"/>
              </a:spcAft>
              <a:defRPr sz="1300">
                <a:solidFill>
                  <a:srgbClr val="2D2D2D"/>
                </a:solidFill>
                <a:latin typeface="Aptos"/>
              </a:defRPr>
            </a:pPr>
            <a:r>
              <a:t>• Provide richer attendance reports and analytics.</a:t>
            </a:r>
          </a:p>
          <a:p>
            <a:pPr>
              <a:spcAft>
                <a:spcPts val="1200"/>
              </a:spcAft>
              <a:defRPr sz="1300">
                <a:solidFill>
                  <a:srgbClr val="2D2D2D"/>
                </a:solidFill>
                <a:latin typeface="Aptos"/>
              </a:defRPr>
            </a:pPr>
            <a:r>
              <a:t>• Improve face verification for wider environmental conditions.</a:t>
            </a:r>
          </a:p>
          <a:p>
            <a:pPr>
              <a:spcAft>
                <a:spcPts val="1200"/>
              </a:spcAft>
              <a:defRPr sz="1300">
                <a:solidFill>
                  <a:srgbClr val="2D2D2D"/>
                </a:solidFill>
                <a:latin typeface="Aptos"/>
              </a:defRPr>
            </a:pPr>
            <a:r>
              <a:t>• Add additional deployment and notification options.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6053328"/>
            <a:ext cx="7909560" cy="4572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31720" y="6144768"/>
            <a:ext cx="7543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STUDENT ATTENDANCE MANAGEMENT SYSTEM  •  2026–2027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85800" y="914400"/>
            <a:ext cx="411480" cy="4114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109960" y="914400"/>
            <a:ext cx="411480" cy="4114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5349240"/>
            <a:ext cx="274320" cy="27432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018520" y="5349240"/>
            <a:ext cx="274320" cy="27432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09342" y="2030520"/>
            <a:ext cx="3388556" cy="83099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6C1623"/>
                </a:solidFill>
                <a:latin typeface="Aptos Display"/>
              </a:defRPr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3127248"/>
            <a:ext cx="2788920" cy="6400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3401568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2D2D"/>
                </a:solidFill>
                <a:latin typeface="Aptos"/>
              </a:defRPr>
            </a:pPr>
            <a:r>
              <a:t>Student Attendance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7991" y="4160520"/>
            <a:ext cx="4065537" cy="8181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700"/>
              </a:spcAft>
              <a:defRPr sz="1250" b="1">
                <a:solidFill>
                  <a:srgbClr val="6C1623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A VINESH  •  Roll No: 123456</a:t>
            </a:r>
          </a:p>
          <a:p>
            <a:pPr algn="ctr">
              <a:spcAft>
                <a:spcPts val="700"/>
              </a:spcAft>
              <a:defRPr sz="1150" b="0">
                <a:solidFill>
                  <a:srgbClr val="2D2D2D"/>
                </a:solidFill>
                <a:latin typeface="Aptos"/>
              </a:defRPr>
            </a:pPr>
            <a:r>
              <a:rPr dirty="0"/>
              <a:t>ADITYA DIPLOMA COLLEGE  •  CSE</a:t>
            </a:r>
          </a:p>
          <a:p>
            <a:pPr algn="ctr">
              <a:spcAft>
                <a:spcPts val="700"/>
              </a:spcAft>
              <a:defRPr sz="1150" b="0">
                <a:solidFill>
                  <a:srgbClr val="2D2D2D"/>
                </a:solidFill>
                <a:latin typeface="Aptos"/>
              </a:defRPr>
            </a:pPr>
            <a:r>
              <a:rPr dirty="0"/>
              <a:t>ADIKAVI NANNAYA UNIVERSITY  •  Academic Year 2026–2027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0112" y="5532120"/>
            <a:ext cx="28612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C1623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Project Guide: J V RAMA KRISHNA RAO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1501</Words>
  <Application>Microsoft Office PowerPoint</Application>
  <PresentationFormat>Widescreen</PresentationFormat>
  <Paragraphs>346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JUNNU VENKATA RAMA KRISHNA RAO</dc:creator>
  <cp:lastModifiedBy>JUNNU VENKATA RAMA KRISHNA RAO</cp:lastModifiedBy>
  <cp:revision>12</cp:revision>
  <dcterms:created xsi:type="dcterms:W3CDTF">2026-09-24T07:03:40Z</dcterms:created>
  <dcterms:modified xsi:type="dcterms:W3CDTF">2026-09-24T07:23:07Z</dcterms:modified>
</cp:coreProperties>
</file>